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468" autoAdjust="0"/>
    <p:restoredTop sz="94660"/>
  </p:normalViewPr>
  <p:slideViewPr>
    <p:cSldViewPr snapToGrid="0">
      <p:cViewPr varScale="1">
        <p:scale>
          <a:sx n="81" d="100"/>
          <a:sy n="81" d="100"/>
        </p:scale>
        <p:origin x="68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12/17/2024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12/17/2024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12/17/2024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932" y="659567"/>
            <a:ext cx="11017770" cy="2833141"/>
          </a:xfrm>
        </p:spPr>
        <p:txBody>
          <a:bodyPr/>
          <a:lstStyle/>
          <a:p>
            <a:pPr marL="342900" marR="8890" lvl="0" indent="-342900" algn="ctr">
              <a:lnSpc>
                <a:spcPct val="150000"/>
              </a:lnSpc>
              <a:spcAft>
                <a:spcPts val="720"/>
              </a:spcAft>
              <a:tabLst>
                <a:tab pos="457200" algn="l"/>
              </a:tabLst>
            </a:pPr>
            <a:r>
              <a:rPr lang="en-GB" sz="6000" b="1" dirty="0">
                <a:solidFill>
                  <a:srgbClr val="000000"/>
                </a:solidFill>
                <a:latin typeface="Times New Roman" panose="02020603050405020304" pitchFamily="18" charset="0"/>
                <a:ea typeface="Times New Roman" panose="02020603050405020304" pitchFamily="18" charset="0"/>
              </a:rPr>
              <a:t>TechSecure Solutions (Pvt) Ltd.</a:t>
            </a:r>
            <a:endParaRPr lang="en-GB" sz="6000" b="1" dirty="0">
              <a:solidFill>
                <a:srgbClr val="000000"/>
              </a:solidFill>
              <a:effectLst/>
              <a:latin typeface="Times New Roman" panose="02020603050405020304" pitchFamily="18" charset="0"/>
              <a:ea typeface="Times New Roman" panose="02020603050405020304" pitchFamily="18" charset="0"/>
            </a:endParaRPr>
          </a:p>
        </p:txBody>
      </p:sp>
      <p:sp>
        <p:nvSpPr>
          <p:cNvPr id="3" name="Subtitle 2"/>
          <p:cNvSpPr>
            <a:spLocks noGrp="1"/>
          </p:cNvSpPr>
          <p:nvPr>
            <p:ph type="subTitle" idx="1"/>
          </p:nvPr>
        </p:nvSpPr>
        <p:spPr>
          <a:xfrm>
            <a:off x="790630" y="5068928"/>
            <a:ext cx="7766936" cy="1096899"/>
          </a:xfrm>
        </p:spPr>
        <p:txBody>
          <a:bodyPr>
            <a:normAutofit/>
          </a:bodyPr>
          <a:lstStyle/>
          <a:p>
            <a:pPr algn="l"/>
            <a:r>
              <a:rPr lang="en-GB" sz="2800" b="1" dirty="0" smtClean="0">
                <a:solidFill>
                  <a:schemeClr val="tx1"/>
                </a:solidFill>
                <a:latin typeface="Times New Roman" panose="02020603050405020304" pitchFamily="18" charset="0"/>
                <a:cs typeface="Times New Roman" panose="02020603050405020304" pitchFamily="18" charset="0"/>
              </a:rPr>
              <a:t>Name :-MOHAMMED AASHIK</a:t>
            </a:r>
          </a:p>
          <a:p>
            <a:pPr lvl="0" algn="l"/>
            <a:r>
              <a:rPr lang="en-GB" sz="2800" b="1" dirty="0" smtClean="0">
                <a:solidFill>
                  <a:schemeClr val="tx1"/>
                </a:solidFill>
                <a:latin typeface="Times New Roman" panose="02020603050405020304" pitchFamily="18" charset="0"/>
                <a:cs typeface="Times New Roman" panose="02020603050405020304" pitchFamily="18" charset="0"/>
              </a:rPr>
              <a:t>Role </a:t>
            </a:r>
            <a:r>
              <a:rPr lang="en-GB" sz="2800" b="1" dirty="0" smtClean="0">
                <a:solidFill>
                  <a:schemeClr val="tx1"/>
                </a:solidFill>
                <a:latin typeface="Times New Roman" panose="02020603050405020304" pitchFamily="18" charset="0"/>
                <a:cs typeface="Times New Roman" panose="02020603050405020304" pitchFamily="18" charset="0"/>
              </a:rPr>
              <a:t>:-</a:t>
            </a:r>
            <a:r>
              <a:rPr lang="en-GB" sz="2800" b="1" dirty="0">
                <a:solidFill>
                  <a:schemeClr val="tx1"/>
                </a:solidFill>
                <a:latin typeface="Times New Roman" panose="02020603050405020304" pitchFamily="18" charset="0"/>
                <a:cs typeface="Times New Roman" panose="02020603050405020304" pitchFamily="18" charset="0"/>
              </a:rPr>
              <a:t>Junior Network Security Specialist</a:t>
            </a:r>
          </a:p>
          <a:p>
            <a:pPr algn="l"/>
            <a:endParaRPr lang="en-GB"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8721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901" y="609600"/>
            <a:ext cx="11842229" cy="1320800"/>
          </a:xfrm>
        </p:spPr>
        <p:txBody>
          <a:bodyPr>
            <a:normAutofit fontScale="90000"/>
          </a:bodyPr>
          <a:lstStyle/>
          <a:p>
            <a:pPr marL="342900" marR="8890" lvl="0" indent="-342900">
              <a:lnSpc>
                <a:spcPct val="148000"/>
              </a:lnSpc>
              <a:spcAft>
                <a:spcPts val="720"/>
              </a:spcAft>
              <a:tabLst>
                <a:tab pos="457200" algn="l"/>
              </a:tabLst>
            </a:pPr>
            <a:r>
              <a:rPr lang="en-GB" dirty="0" smtClean="0">
                <a:solidFill>
                  <a:srgbClr val="000000"/>
                </a:solidFill>
                <a:latin typeface="Times New Roman" panose="02020603050405020304" pitchFamily="18" charset="0"/>
                <a:ea typeface="Times New Roman" panose="02020603050405020304" pitchFamily="18" charset="0"/>
              </a:rPr>
              <a:t> </a:t>
            </a:r>
            <a:r>
              <a:rPr lang="en-GB" sz="3100" b="1" dirty="0">
                <a:solidFill>
                  <a:srgbClr val="000000"/>
                </a:solidFill>
                <a:latin typeface="Times New Roman" panose="02020603050405020304" pitchFamily="18" charset="0"/>
                <a:ea typeface="Times New Roman" panose="02020603050405020304" pitchFamily="18" charset="0"/>
              </a:rPr>
              <a:t>IT Security Risk Analysis and Solutions </a:t>
            </a:r>
            <a:r>
              <a:rPr lang="en-GB" sz="3100" b="1" dirty="0" smtClean="0">
                <a:solidFill>
                  <a:srgbClr val="000000"/>
                </a:solidFill>
                <a:latin typeface="Times New Roman" panose="02020603050405020304" pitchFamily="18" charset="0"/>
                <a:ea typeface="Times New Roman" panose="02020603050405020304" pitchFamily="18" charset="0"/>
              </a:rPr>
              <a:t>for  Colombo </a:t>
            </a:r>
            <a:r>
              <a:rPr lang="en-GB" sz="3100" b="1" dirty="0">
                <a:solidFill>
                  <a:srgbClr val="000000"/>
                </a:solidFill>
                <a:latin typeface="Times New Roman" panose="02020603050405020304" pitchFamily="18" charset="0"/>
                <a:ea typeface="Times New Roman" panose="02020603050405020304" pitchFamily="18" charset="0"/>
              </a:rPr>
              <a:t>Advanced College</a:t>
            </a:r>
            <a:endParaRPr lang="en-GB" sz="3100" b="1" dirty="0">
              <a:solidFill>
                <a:srgbClr val="000000"/>
              </a:solidFill>
              <a:effectLst/>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149901" y="1693889"/>
            <a:ext cx="11677338" cy="4781862"/>
          </a:xfrm>
        </p:spPr>
        <p:txBody>
          <a:bodyPr>
            <a:normAutofit lnSpcReduction="10000"/>
          </a:bodyPr>
          <a:lstStyle/>
          <a:p>
            <a:pPr algn="just"/>
            <a:r>
              <a:rPr lang="en-GB" sz="2400" b="1" dirty="0">
                <a:solidFill>
                  <a:schemeClr val="tx1"/>
                </a:solidFill>
              </a:rPr>
              <a:t>Colombo Advanced College, a Sri Lankan institution specializing in ICT, Engineering, and Business Studies, experienced a ransomware attack affecting its central data center. The attack exploited outdated network infrastructure and a lack of security, causing data loss, delays, and reputational damage. The incident underscores the need for the college to strengthen its cybersecurity posture to protect digital assets and ensure business continuity</a:t>
            </a:r>
            <a:r>
              <a:rPr lang="en-GB" sz="2400" b="1" dirty="0" smtClean="0">
                <a:solidFill>
                  <a:schemeClr val="tx1"/>
                </a:solidFill>
              </a:rPr>
              <a:t>.</a:t>
            </a:r>
          </a:p>
          <a:p>
            <a:pPr marL="0" indent="0">
              <a:buNone/>
            </a:pPr>
            <a:r>
              <a:rPr lang="en-GB" sz="2400" b="1" dirty="0">
                <a:solidFill>
                  <a:schemeClr val="tx1"/>
                </a:solidFill>
              </a:rPr>
              <a:t>Key </a:t>
            </a:r>
            <a:r>
              <a:rPr lang="en-GB" sz="2400" b="1" dirty="0" smtClean="0">
                <a:solidFill>
                  <a:schemeClr val="tx1"/>
                </a:solidFill>
              </a:rPr>
              <a:t>topics:-</a:t>
            </a:r>
          </a:p>
          <a:p>
            <a:pPr lvl="1" algn="just"/>
            <a:r>
              <a:rPr lang="en-GB" sz="2200" b="1" dirty="0">
                <a:solidFill>
                  <a:schemeClr val="tx1"/>
                </a:solidFill>
              </a:rPr>
              <a:t>       IT security </a:t>
            </a:r>
            <a:r>
              <a:rPr lang="en-GB" sz="2200" b="1" dirty="0" smtClean="0">
                <a:solidFill>
                  <a:schemeClr val="tx1"/>
                </a:solidFill>
              </a:rPr>
              <a:t>risks</a:t>
            </a:r>
          </a:p>
          <a:p>
            <a:pPr lvl="1" algn="just"/>
            <a:r>
              <a:rPr lang="en-GB" sz="2200" b="1" dirty="0" smtClean="0">
                <a:solidFill>
                  <a:schemeClr val="tx1"/>
                </a:solidFill>
              </a:rPr>
              <a:t>      countermeasures</a:t>
            </a:r>
          </a:p>
          <a:p>
            <a:pPr lvl="1" algn="just"/>
            <a:r>
              <a:rPr lang="en-GB" sz="2200" b="1" dirty="0" smtClean="0">
                <a:solidFill>
                  <a:schemeClr val="tx1"/>
                </a:solidFill>
                <a:latin typeface="Times New Roman" panose="02020603050405020304" pitchFamily="18" charset="0"/>
                <a:ea typeface="Times New Roman" panose="02020603050405020304" pitchFamily="18" charset="0"/>
              </a:rPr>
              <a:t>       ISMS design</a:t>
            </a:r>
          </a:p>
          <a:p>
            <a:pPr lvl="1" algn="just"/>
            <a:r>
              <a:rPr lang="en-GB" sz="2200" b="1" dirty="0" smtClean="0">
                <a:solidFill>
                  <a:schemeClr val="tx1"/>
                </a:solidFill>
              </a:rPr>
              <a:t>      </a:t>
            </a:r>
            <a:r>
              <a:rPr lang="en-GB" sz="2200" b="1" dirty="0">
                <a:solidFill>
                  <a:schemeClr val="tx1"/>
                </a:solidFill>
              </a:rPr>
              <a:t>organizational integrity.</a:t>
            </a:r>
          </a:p>
        </p:txBody>
      </p:sp>
    </p:spTree>
    <p:extLst>
      <p:ext uri="{BB962C8B-B14F-4D97-AF65-F5344CB8AC3E}">
        <p14:creationId xmlns:p14="http://schemas.microsoft.com/office/powerpoint/2010/main" val="2680648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5" y="0"/>
            <a:ext cx="8596668" cy="1154243"/>
          </a:xfrm>
        </p:spPr>
        <p:txBody>
          <a:bodyPr>
            <a:noAutofit/>
          </a:bodyPr>
          <a:lstStyle/>
          <a:p>
            <a:pPr marL="254000" marR="8890" indent="-3175">
              <a:lnSpc>
                <a:spcPct val="148000"/>
              </a:lnSpc>
              <a:spcAft>
                <a:spcPts val="720"/>
              </a:spcAft>
            </a:pPr>
            <a:r>
              <a:rPr lang="en-GB" sz="2400" b="1" dirty="0">
                <a:solidFill>
                  <a:srgbClr val="000000"/>
                </a:solidFill>
                <a:latin typeface="Times New Roman" panose="02020603050405020304" pitchFamily="18" charset="0"/>
                <a:ea typeface="Times New Roman" panose="02020603050405020304" pitchFamily="18" charset="0"/>
              </a:rPr>
              <a:t>Security Threats Faced by Colombo Advanced College</a:t>
            </a:r>
            <a:endParaRPr lang="en-GB" sz="2000" dirty="0">
              <a:solidFill>
                <a:srgbClr val="000000"/>
              </a:solidFill>
              <a:effectLst/>
              <a:latin typeface="Times New Roman" panose="02020603050405020304" pitchFamily="18" charset="0"/>
              <a:ea typeface="Times New Roman" panose="02020603050405020304" pitchFamily="18" charset="0"/>
            </a:endParaRPr>
          </a:p>
        </p:txBody>
      </p:sp>
      <p:sp>
        <p:nvSpPr>
          <p:cNvPr id="3" name="Text Placeholder 2"/>
          <p:cNvSpPr>
            <a:spLocks noGrp="1"/>
          </p:cNvSpPr>
          <p:nvPr>
            <p:ph type="body" idx="1"/>
          </p:nvPr>
        </p:nvSpPr>
        <p:spPr>
          <a:xfrm>
            <a:off x="74951" y="509667"/>
            <a:ext cx="11868810" cy="6348333"/>
          </a:xfrm>
        </p:spPr>
        <p:txBody>
          <a:bodyPr>
            <a:normAutofit fontScale="92500" lnSpcReduction="10000"/>
          </a:bodyPr>
          <a:lstStyle/>
          <a:p>
            <a:endParaRPr lang="en-GB" dirty="0" smtClean="0"/>
          </a:p>
          <a:p>
            <a:r>
              <a:rPr lang="en-GB" sz="2400" b="1" dirty="0" smtClean="0">
                <a:solidFill>
                  <a:schemeClr val="tx1"/>
                </a:solidFill>
              </a:rPr>
              <a:t>Malware </a:t>
            </a:r>
          </a:p>
          <a:p>
            <a:r>
              <a:rPr lang="en-GB" sz="2000" dirty="0" smtClean="0">
                <a:solidFill>
                  <a:schemeClr val="tx1"/>
                </a:solidFill>
              </a:rPr>
              <a:t>Malware, </a:t>
            </a:r>
            <a:r>
              <a:rPr lang="en-GB" sz="2000" dirty="0">
                <a:solidFill>
                  <a:schemeClr val="tx1"/>
                </a:solidFill>
              </a:rPr>
              <a:t>including ransomware, spyware, and viruses, can install harmful software, disrupt network access, steal data, and render a system non-functional with a simple click</a:t>
            </a:r>
            <a:r>
              <a:rPr lang="en-GB" sz="2000" dirty="0" smtClean="0">
                <a:solidFill>
                  <a:schemeClr val="tx1"/>
                </a:solidFill>
              </a:rPr>
              <a:t>.</a:t>
            </a:r>
            <a:endParaRPr lang="en-GB" dirty="0">
              <a:solidFill>
                <a:schemeClr val="tx1"/>
              </a:solidFill>
            </a:endParaRPr>
          </a:p>
          <a:p>
            <a:pPr marL="342900" indent="-342900">
              <a:buFont typeface="Wingdings" panose="05000000000000000000" pitchFamily="2" charset="2"/>
              <a:buChar char="ü"/>
            </a:pPr>
            <a:r>
              <a:rPr lang="en-GB" sz="2400" b="1" dirty="0" smtClean="0">
                <a:solidFill>
                  <a:schemeClr val="tx1"/>
                </a:solidFill>
              </a:rPr>
              <a:t>Ransomware</a:t>
            </a:r>
            <a:endParaRPr lang="en-GB" sz="2400" b="1" dirty="0">
              <a:solidFill>
                <a:schemeClr val="tx1"/>
              </a:solidFill>
            </a:endParaRPr>
          </a:p>
          <a:p>
            <a:pPr marL="742950" lvl="1" indent="-285750" algn="just">
              <a:buFont typeface="Arial" panose="020B0604020202020204" pitchFamily="34" charset="0"/>
              <a:buChar char="•"/>
            </a:pPr>
            <a:r>
              <a:rPr lang="en-GB" b="1" dirty="0">
                <a:solidFill>
                  <a:schemeClr val="tx1"/>
                </a:solidFill>
              </a:rPr>
              <a:t>B</a:t>
            </a:r>
            <a:r>
              <a:rPr lang="en-GB" b="1" dirty="0" smtClean="0">
                <a:solidFill>
                  <a:schemeClr val="tx1"/>
                </a:solidFill>
              </a:rPr>
              <a:t>locks </a:t>
            </a:r>
            <a:r>
              <a:rPr lang="en-GB" b="1" dirty="0">
                <a:solidFill>
                  <a:schemeClr val="tx1"/>
                </a:solidFill>
              </a:rPr>
              <a:t>or encrypts your files or computer system, making them inaccessible. </a:t>
            </a:r>
            <a:endParaRPr lang="en-GB" b="1" dirty="0" smtClean="0">
              <a:solidFill>
                <a:schemeClr val="tx1"/>
              </a:solidFill>
            </a:endParaRPr>
          </a:p>
          <a:p>
            <a:pPr marL="742950" lvl="1" indent="-285750" algn="just">
              <a:buFont typeface="Arial" panose="020B0604020202020204" pitchFamily="34" charset="0"/>
              <a:buChar char="•"/>
            </a:pPr>
            <a:r>
              <a:rPr lang="en-GB" b="1" dirty="0" smtClean="0">
                <a:solidFill>
                  <a:schemeClr val="tx1"/>
                </a:solidFill>
              </a:rPr>
              <a:t>The </a:t>
            </a:r>
            <a:r>
              <a:rPr lang="en-GB" b="1" dirty="0">
                <a:solidFill>
                  <a:schemeClr val="tx1"/>
                </a:solidFill>
              </a:rPr>
              <a:t>attackers then demand payment </a:t>
            </a:r>
            <a:r>
              <a:rPr lang="en-GB" b="1" dirty="0" smtClean="0">
                <a:solidFill>
                  <a:schemeClr val="tx1"/>
                </a:solidFill>
              </a:rPr>
              <a:t>in </a:t>
            </a:r>
            <a:r>
              <a:rPr lang="en-GB" b="1" dirty="0">
                <a:solidFill>
                  <a:schemeClr val="tx1"/>
                </a:solidFill>
              </a:rPr>
              <a:t>exchange for restoring access</a:t>
            </a:r>
            <a:r>
              <a:rPr lang="en-GB" b="1" dirty="0" smtClean="0">
                <a:solidFill>
                  <a:schemeClr val="tx1"/>
                </a:solidFill>
              </a:rPr>
              <a:t>.</a:t>
            </a:r>
          </a:p>
          <a:p>
            <a:pPr marL="742950" lvl="1" indent="-285750" algn="just">
              <a:buFont typeface="Arial" panose="020B0604020202020204" pitchFamily="34" charset="0"/>
              <a:buChar char="•"/>
            </a:pPr>
            <a:r>
              <a:rPr lang="en-GB" b="1" dirty="0" smtClean="0">
                <a:solidFill>
                  <a:schemeClr val="tx1"/>
                </a:solidFill>
              </a:rPr>
              <a:t>It </a:t>
            </a:r>
            <a:r>
              <a:rPr lang="en-GB" b="1" dirty="0">
                <a:solidFill>
                  <a:schemeClr val="tx1"/>
                </a:solidFill>
              </a:rPr>
              <a:t>can cause serious disruption, </a:t>
            </a:r>
            <a:r>
              <a:rPr lang="en-GB" b="1" dirty="0" smtClean="0">
                <a:solidFill>
                  <a:schemeClr val="tx1"/>
                </a:solidFill>
              </a:rPr>
              <a:t>in the organizations</a:t>
            </a:r>
            <a:r>
              <a:rPr lang="en-GB" b="1" dirty="0">
                <a:solidFill>
                  <a:schemeClr val="tx1"/>
                </a:solidFill>
              </a:rPr>
              <a:t>, by targeting important data and systems</a:t>
            </a:r>
            <a:r>
              <a:rPr lang="en-GB" b="1" dirty="0" smtClean="0">
                <a:solidFill>
                  <a:schemeClr val="tx1"/>
                </a:solidFill>
              </a:rPr>
              <a:t>.</a:t>
            </a:r>
            <a:endParaRPr lang="en-GB" b="1" dirty="0">
              <a:solidFill>
                <a:schemeClr val="tx1"/>
              </a:solidFill>
            </a:endParaRPr>
          </a:p>
          <a:p>
            <a:pPr marL="342900" lvl="0" indent="-342900">
              <a:buFont typeface="Wingdings" panose="05000000000000000000" pitchFamily="2" charset="2"/>
              <a:buChar char="ü"/>
            </a:pPr>
            <a:r>
              <a:rPr lang="en-GB" sz="2400" b="1" dirty="0" smtClean="0">
                <a:solidFill>
                  <a:schemeClr val="tx1"/>
                </a:solidFill>
              </a:rPr>
              <a:t> Spyware </a:t>
            </a:r>
            <a:endParaRPr lang="en-GB" sz="2400" b="1" dirty="0">
              <a:solidFill>
                <a:schemeClr val="tx1"/>
              </a:solidFill>
            </a:endParaRPr>
          </a:p>
          <a:p>
            <a:pPr marL="742950" lvl="1" indent="-285750">
              <a:buFont typeface="Arial" panose="020B0604020202020204" pitchFamily="34" charset="0"/>
              <a:buChar char="•"/>
            </a:pPr>
            <a:r>
              <a:rPr lang="en-GB" b="1" dirty="0" smtClean="0">
                <a:solidFill>
                  <a:schemeClr val="tx1"/>
                </a:solidFill>
              </a:rPr>
              <a:t>designed </a:t>
            </a:r>
            <a:r>
              <a:rPr lang="en-GB" b="1" dirty="0">
                <a:solidFill>
                  <a:schemeClr val="tx1"/>
                </a:solidFill>
              </a:rPr>
              <a:t>to </a:t>
            </a:r>
            <a:r>
              <a:rPr lang="en-GB" b="1" dirty="0" smtClean="0">
                <a:solidFill>
                  <a:schemeClr val="tx1"/>
                </a:solidFill>
              </a:rPr>
              <a:t>monitor </a:t>
            </a:r>
            <a:r>
              <a:rPr lang="en-GB" b="1" dirty="0">
                <a:solidFill>
                  <a:schemeClr val="tx1"/>
                </a:solidFill>
              </a:rPr>
              <a:t>and collect information about your online activities, such as your browsing habits, passwords, or personal data, without your </a:t>
            </a:r>
            <a:r>
              <a:rPr lang="en-GB" b="1" dirty="0" smtClean="0">
                <a:solidFill>
                  <a:schemeClr val="tx1"/>
                </a:solidFill>
              </a:rPr>
              <a:t>knowledge.</a:t>
            </a:r>
          </a:p>
          <a:p>
            <a:pPr marL="742950" lvl="1" indent="-285750">
              <a:buFont typeface="Arial" panose="020B0604020202020204" pitchFamily="34" charset="0"/>
              <a:buChar char="•"/>
            </a:pPr>
            <a:r>
              <a:rPr lang="en-GB" b="1" dirty="0" smtClean="0">
                <a:solidFill>
                  <a:schemeClr val="tx1"/>
                </a:solidFill>
              </a:rPr>
              <a:t> </a:t>
            </a:r>
            <a:r>
              <a:rPr lang="en-GB" b="1" dirty="0">
                <a:solidFill>
                  <a:schemeClr val="tx1"/>
                </a:solidFill>
              </a:rPr>
              <a:t>This stolen information is often sent to third parties or used for malicious purposes, such as identity theft</a:t>
            </a:r>
            <a:r>
              <a:rPr lang="en-GB" b="1" dirty="0" smtClean="0">
                <a:solidFill>
                  <a:schemeClr val="tx1"/>
                </a:solidFill>
              </a:rPr>
              <a:t>.</a:t>
            </a:r>
            <a:endParaRPr lang="en-GB" b="1" dirty="0">
              <a:solidFill>
                <a:schemeClr val="tx1"/>
              </a:solidFill>
            </a:endParaRPr>
          </a:p>
          <a:p>
            <a:pPr marL="342900" lvl="0" indent="-342900">
              <a:buFont typeface="Wingdings" panose="05000000000000000000" pitchFamily="2" charset="2"/>
              <a:buChar char="ü"/>
            </a:pPr>
            <a:r>
              <a:rPr lang="en-GB" sz="2400" b="1" dirty="0"/>
              <a:t>Viruses</a:t>
            </a:r>
          </a:p>
          <a:p>
            <a:pPr marL="742950" lvl="1" indent="-285750">
              <a:buFont typeface="Arial" panose="020B0604020202020204" pitchFamily="34" charset="0"/>
              <a:buChar char="•"/>
            </a:pPr>
            <a:r>
              <a:rPr lang="en-GB" b="1" dirty="0" smtClean="0">
                <a:solidFill>
                  <a:schemeClr val="tx1"/>
                </a:solidFill>
              </a:rPr>
              <a:t>malicious </a:t>
            </a:r>
            <a:r>
              <a:rPr lang="en-GB" b="1" dirty="0">
                <a:solidFill>
                  <a:schemeClr val="tx1"/>
                </a:solidFill>
              </a:rPr>
              <a:t>programs that attach themselves to legitimate files or programs and spread when those files or programs are opened or executed. </a:t>
            </a:r>
            <a:endParaRPr lang="en-GB" b="1" dirty="0" smtClean="0">
              <a:solidFill>
                <a:schemeClr val="tx1"/>
              </a:solidFill>
            </a:endParaRPr>
          </a:p>
          <a:p>
            <a:pPr marL="742950" lvl="1" indent="-285750">
              <a:buFont typeface="Arial" panose="020B0604020202020204" pitchFamily="34" charset="0"/>
              <a:buChar char="•"/>
            </a:pPr>
            <a:r>
              <a:rPr lang="en-GB" b="1" dirty="0" smtClean="0">
                <a:solidFill>
                  <a:schemeClr val="tx1"/>
                </a:solidFill>
              </a:rPr>
              <a:t>They </a:t>
            </a:r>
            <a:r>
              <a:rPr lang="en-GB" b="1" dirty="0">
                <a:solidFill>
                  <a:schemeClr val="tx1"/>
                </a:solidFill>
              </a:rPr>
              <a:t>can damage or delete data, slow down systems, and disrupt operations. Viruses can spread rapidly across </a:t>
            </a:r>
            <a:r>
              <a:rPr lang="en-GB" b="1" dirty="0" smtClean="0">
                <a:solidFill>
                  <a:schemeClr val="tx1"/>
                </a:solidFill>
              </a:rPr>
              <a:t>networks</a:t>
            </a:r>
            <a:endParaRPr lang="en-GB" b="1" dirty="0">
              <a:solidFill>
                <a:schemeClr val="tx1"/>
              </a:solidFill>
            </a:endParaRPr>
          </a:p>
          <a:p>
            <a:endParaRPr lang="en-GB" dirty="0"/>
          </a:p>
          <a:p>
            <a:endParaRPr lang="en-GB" dirty="0"/>
          </a:p>
        </p:txBody>
      </p:sp>
    </p:spTree>
    <p:extLst>
      <p:ext uri="{BB962C8B-B14F-4D97-AF65-F5344CB8AC3E}">
        <p14:creationId xmlns:p14="http://schemas.microsoft.com/office/powerpoint/2010/main" val="32583246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8541" y="309539"/>
            <a:ext cx="11379549" cy="6317504"/>
          </a:xfrm>
        </p:spPr>
        <p:txBody>
          <a:bodyPr>
            <a:normAutofit fontScale="92500"/>
          </a:bodyPr>
          <a:lstStyle/>
          <a:p>
            <a:pPr lvl="0">
              <a:buFont typeface="Wingdings" panose="05000000000000000000" pitchFamily="2" charset="2"/>
              <a:buChar char="ü"/>
            </a:pPr>
            <a:r>
              <a:rPr lang="en-GB" sz="2200" b="1" dirty="0">
                <a:solidFill>
                  <a:srgbClr val="000000"/>
                </a:solidFill>
                <a:ea typeface="Times New Roman" panose="02020603050405020304" pitchFamily="18" charset="0"/>
              </a:rPr>
              <a:t> Data Breaches </a:t>
            </a:r>
            <a:r>
              <a:rPr lang="en-GB" sz="3200" dirty="0">
                <a:solidFill>
                  <a:srgbClr val="000000"/>
                </a:solidFill>
                <a:ea typeface="Times New Roman" panose="02020603050405020304" pitchFamily="18" charset="0"/>
              </a:rPr>
              <a:t/>
            </a:r>
            <a:br>
              <a:rPr lang="en-GB" sz="3200" dirty="0">
                <a:solidFill>
                  <a:srgbClr val="000000"/>
                </a:solidFill>
                <a:ea typeface="Times New Roman" panose="02020603050405020304" pitchFamily="18" charset="0"/>
              </a:rPr>
            </a:br>
            <a:r>
              <a:rPr lang="en-GB" dirty="0">
                <a:solidFill>
                  <a:prstClr val="black"/>
                </a:solidFill>
              </a:rPr>
              <a:t>Data breaches are a major security threat for educational institutions like Colombo Advanced College. They can harm an institution's reputation, disrupt operations, and expose sensitive information. Threat actors, including external attackers and insiders, are responsible for these attacks</a:t>
            </a:r>
            <a:r>
              <a:rPr lang="en-GB" dirty="0" smtClean="0">
                <a:solidFill>
                  <a:prstClr val="black"/>
                </a:solidFill>
              </a:rPr>
              <a:t>.</a:t>
            </a:r>
            <a:endParaRPr lang="en-GB" b="1" dirty="0" smtClean="0"/>
          </a:p>
          <a:p>
            <a:pPr lvl="0">
              <a:buFont typeface="Wingdings" panose="05000000000000000000" pitchFamily="2" charset="2"/>
              <a:buChar char="ü"/>
            </a:pPr>
            <a:r>
              <a:rPr lang="en-GB" sz="2200" b="1" dirty="0" smtClean="0"/>
              <a:t>Misconfiguration </a:t>
            </a:r>
            <a:endParaRPr lang="en-GB" sz="2200" dirty="0"/>
          </a:p>
          <a:p>
            <a:pPr marL="0" indent="0" algn="just">
              <a:buNone/>
            </a:pPr>
            <a:r>
              <a:rPr lang="en-GB" dirty="0" smtClean="0"/>
              <a:t>This can </a:t>
            </a:r>
            <a:r>
              <a:rPr lang="en-GB" dirty="0"/>
              <a:t>lead to significant data exposure in the cloud. Inadequate employee training and awareness of cloud security contribute to these misconfigurations. Encrypting data during network transfers is essential to prevent man-in-the-middle attacks. These are potential risks that can affect Colombo Advanced College’s cloud computing </a:t>
            </a:r>
            <a:r>
              <a:rPr lang="en-GB" dirty="0" smtClean="0"/>
              <a:t>solution</a:t>
            </a:r>
            <a:r>
              <a:rPr lang="en-GB" dirty="0"/>
              <a:t>. </a:t>
            </a:r>
            <a:endParaRPr lang="en-GB" dirty="0" smtClean="0"/>
          </a:p>
          <a:p>
            <a:pPr lvl="0">
              <a:buFont typeface="Wingdings" panose="05000000000000000000" pitchFamily="2" charset="2"/>
              <a:buChar char="ü"/>
            </a:pPr>
            <a:r>
              <a:rPr lang="en-GB" sz="2200" b="1" dirty="0"/>
              <a:t>Phishing Attacks</a:t>
            </a:r>
            <a:endParaRPr lang="en-GB" sz="2200" dirty="0"/>
          </a:p>
          <a:p>
            <a:pPr marL="0" indent="0">
              <a:buNone/>
            </a:pPr>
            <a:r>
              <a:rPr lang="en-GB" dirty="0"/>
              <a:t>Phishing attacks are a type of cyberattacks in which attackers pose as a legitimate organization or person to trick individuals into providing sensitive information such as usernames, passwords, or financial information. These attacks often occur through   fake   emails,   text   messages,   or seemingly trustworthy websites, tricking the victim into clicking on malicious links or attachments. Once the victim provides their information, the attacker can use it for fraud, identity theft, or other malicious purposes</a:t>
            </a:r>
            <a:r>
              <a:rPr lang="en-GB" dirty="0" smtClean="0"/>
              <a:t>.</a:t>
            </a:r>
            <a:r>
              <a:rPr lang="en-GB" b="1" dirty="0">
                <a:solidFill>
                  <a:schemeClr val="tx1"/>
                </a:solidFill>
              </a:rPr>
              <a:t> </a:t>
            </a:r>
            <a:endParaRPr lang="en-GB" b="1" dirty="0" smtClean="0">
              <a:solidFill>
                <a:schemeClr val="tx1"/>
              </a:solidFill>
            </a:endParaRPr>
          </a:p>
          <a:p>
            <a:pPr>
              <a:buFont typeface="Wingdings" panose="05000000000000000000" pitchFamily="2" charset="2"/>
              <a:buChar char="ü"/>
            </a:pPr>
            <a:r>
              <a:rPr lang="en-GB" b="1" dirty="0" smtClean="0">
                <a:solidFill>
                  <a:schemeClr val="tx1"/>
                </a:solidFill>
              </a:rPr>
              <a:t>Weak </a:t>
            </a:r>
            <a:r>
              <a:rPr lang="en-GB" b="1" dirty="0">
                <a:solidFill>
                  <a:schemeClr val="tx1"/>
                </a:solidFill>
              </a:rPr>
              <a:t>Passwords and User Errors</a:t>
            </a:r>
            <a:br>
              <a:rPr lang="en-GB" b="1" dirty="0">
                <a:solidFill>
                  <a:schemeClr val="tx1"/>
                </a:solidFill>
              </a:rPr>
            </a:br>
            <a:r>
              <a:rPr lang="en-GB" dirty="0">
                <a:solidFill>
                  <a:schemeClr val="tx1"/>
                </a:solidFill>
              </a:rPr>
              <a:t>Weak passwords and user errors refer to situations in which individuals use easily guessed or inappropriate passwords, such as simple words, short phrases, or common patterns, which allow attackers to more easily gain unauthorized access. User errors occur when people make mistakes, such as forgetting to log out of their accounts, clicking on phishing links, or misusing their login credentials. These factors can compromise security and increase the risk of unauthorized access to sensitive information or systems</a:t>
            </a:r>
            <a:endParaRPr lang="en-GB" dirty="0"/>
          </a:p>
        </p:txBody>
      </p:sp>
    </p:spTree>
    <p:extLst>
      <p:ext uri="{BB962C8B-B14F-4D97-AF65-F5344CB8AC3E}">
        <p14:creationId xmlns:p14="http://schemas.microsoft.com/office/powerpoint/2010/main" val="1927121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6858001"/>
          </a:xfrm>
        </p:spPr>
        <p:txBody>
          <a:bodyPr>
            <a:normAutofit/>
          </a:bodyPr>
          <a:lstStyle/>
          <a:p>
            <a:pPr lvl="0"/>
            <a:r>
              <a:rPr lang="en-GB" sz="1800" dirty="0" smtClean="0">
                <a:solidFill>
                  <a:schemeClr val="tx1"/>
                </a:solidFill>
              </a:rPr>
              <a:t>.</a:t>
            </a:r>
            <a:r>
              <a:rPr lang="en-GB" sz="1800" dirty="0">
                <a:solidFill>
                  <a:schemeClr val="tx1"/>
                </a:solidFill>
              </a:rPr>
              <a:t/>
            </a:r>
            <a:br>
              <a:rPr lang="en-GB" sz="1800" dirty="0">
                <a:solidFill>
                  <a:schemeClr val="tx1"/>
                </a:solidFill>
              </a:rPr>
            </a:br>
            <a:r>
              <a:rPr lang="en-GB" sz="1600" dirty="0">
                <a:solidFill>
                  <a:schemeClr val="tx1"/>
                </a:solidFill>
              </a:rPr>
              <a:t/>
            </a:r>
            <a:br>
              <a:rPr lang="en-GB" sz="1600" dirty="0">
                <a:solidFill>
                  <a:schemeClr val="tx1"/>
                </a:solidFill>
              </a:rPr>
            </a:br>
            <a:r>
              <a:rPr lang="en-GB" sz="2800" b="1" dirty="0">
                <a:solidFill>
                  <a:schemeClr val="tx1"/>
                </a:solidFill>
              </a:rPr>
              <a:t>Physical Security Risks </a:t>
            </a:r>
            <a:br>
              <a:rPr lang="en-GB" sz="2800" b="1" dirty="0">
                <a:solidFill>
                  <a:schemeClr val="tx1"/>
                </a:solidFill>
              </a:rPr>
            </a:br>
            <a:r>
              <a:rPr lang="en-GB" sz="2400" b="1" dirty="0">
                <a:solidFill>
                  <a:schemeClr val="tx1"/>
                </a:solidFill>
              </a:rPr>
              <a:t>Natural Hazards </a:t>
            </a:r>
            <a:r>
              <a:rPr lang="en-GB" sz="1800" dirty="0">
                <a:solidFill>
                  <a:schemeClr val="tx1"/>
                </a:solidFill>
              </a:rPr>
              <a:t/>
            </a:r>
            <a:br>
              <a:rPr lang="en-GB" sz="1800" dirty="0">
                <a:solidFill>
                  <a:schemeClr val="tx1"/>
                </a:solidFill>
              </a:rPr>
            </a:br>
            <a:r>
              <a:rPr lang="en-GB" sz="1800" dirty="0">
                <a:solidFill>
                  <a:schemeClr val="tx1"/>
                </a:solidFill>
              </a:rPr>
              <a:t>Colombo Advanced College's urban and coastal location exposes it to natural disasters such as floods, earthquakes, and tsunamis, which could cause significant physical damage to the college's infrastructure and completely disrupt its systems. While these events cannot be prevented, mitigation measures, such as robust disaster recovery planning, off-site backups, and reinforced physical structures, can help protect the college and minimize their impact on academic and administrative operations</a:t>
            </a:r>
            <a:r>
              <a:rPr lang="en-GB" sz="2400" dirty="0" smtClean="0">
                <a:solidFill>
                  <a:schemeClr val="tx1"/>
                </a:solidFill>
              </a:rPr>
              <a:t>.</a:t>
            </a:r>
            <a:br>
              <a:rPr lang="en-GB" sz="2400" dirty="0" smtClean="0">
                <a:solidFill>
                  <a:schemeClr val="tx1"/>
                </a:solidFill>
              </a:rPr>
            </a:br>
            <a:r>
              <a:rPr lang="en-GB" sz="2400" dirty="0">
                <a:solidFill>
                  <a:schemeClr val="tx1"/>
                </a:solidFill>
              </a:rPr>
              <a:t/>
            </a:r>
            <a:br>
              <a:rPr lang="en-GB" sz="2400" dirty="0">
                <a:solidFill>
                  <a:schemeClr val="tx1"/>
                </a:solidFill>
              </a:rPr>
            </a:br>
            <a:r>
              <a:rPr lang="en-GB" sz="2400" b="1" dirty="0">
                <a:solidFill>
                  <a:schemeClr val="tx1"/>
                </a:solidFill>
              </a:rPr>
              <a:t>Theft of Data or Equipment </a:t>
            </a:r>
            <a:r>
              <a:rPr lang="en-GB" sz="2400" dirty="0">
                <a:solidFill>
                  <a:schemeClr val="tx1"/>
                </a:solidFill>
              </a:rPr>
              <a:t/>
            </a:r>
            <a:br>
              <a:rPr lang="en-GB" sz="2400" dirty="0">
                <a:solidFill>
                  <a:schemeClr val="tx1"/>
                </a:solidFill>
              </a:rPr>
            </a:br>
            <a:r>
              <a:rPr lang="en-GB" sz="1800" dirty="0">
                <a:solidFill>
                  <a:schemeClr val="tx1"/>
                </a:solidFill>
              </a:rPr>
              <a:t>This refers to either unauthorized entry or the improper utilization of files, leading to the sharing or copying of files without consent, or the theft of computing devices that store the data. </a:t>
            </a:r>
            <a:br>
              <a:rPr lang="en-GB" sz="1800" dirty="0">
                <a:solidFill>
                  <a:schemeClr val="tx1"/>
                </a:solidFill>
              </a:rPr>
            </a:br>
            <a:endParaRPr lang="en-GB" sz="1800" dirty="0">
              <a:solidFill>
                <a:schemeClr val="tx1"/>
              </a:solidFill>
            </a:endParaRPr>
          </a:p>
        </p:txBody>
      </p:sp>
    </p:spTree>
    <p:extLst>
      <p:ext uri="{BB962C8B-B14F-4D97-AF65-F5344CB8AC3E}">
        <p14:creationId xmlns:p14="http://schemas.microsoft.com/office/powerpoint/2010/main" val="1005864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7644" y="0"/>
            <a:ext cx="11519555" cy="6858000"/>
          </a:xfrm>
        </p:spPr>
        <p:txBody>
          <a:bodyPr>
            <a:normAutofit/>
          </a:bodyPr>
          <a:lstStyle/>
          <a:p>
            <a:pPr marL="0" indent="0">
              <a:buNone/>
            </a:pPr>
            <a:r>
              <a:rPr lang="en-GB" sz="2400" b="1" dirty="0" smtClean="0"/>
              <a:t>Assessment </a:t>
            </a:r>
            <a:r>
              <a:rPr lang="en-GB" sz="2400" b="1" dirty="0"/>
              <a:t>of </a:t>
            </a:r>
            <a:r>
              <a:rPr lang="en-GB" sz="2400" b="1" dirty="0" smtClean="0"/>
              <a:t>Current security Procedures</a:t>
            </a:r>
            <a:endParaRPr lang="en-GB" sz="2000" b="1" dirty="0" smtClean="0"/>
          </a:p>
          <a:p>
            <a:pPr>
              <a:buFont typeface="Wingdings" panose="05000000000000000000" pitchFamily="2" charset="2"/>
              <a:buChar char="v"/>
            </a:pPr>
            <a:r>
              <a:rPr lang="en-GB" sz="2000" b="1" dirty="0"/>
              <a:t>Lack of Proactive Measures</a:t>
            </a:r>
            <a:endParaRPr lang="en-GB" sz="2000" dirty="0"/>
          </a:p>
          <a:p>
            <a:pPr marL="0" indent="0">
              <a:buNone/>
            </a:pPr>
            <a:r>
              <a:rPr lang="en-GB" sz="1600" dirty="0"/>
              <a:t>Firewalls and antivirus software are essential for network security, but if they are not updated regularly, they can be ineffective against new and evolving threats. Without proactive updates and monitoring, attackers can exploit known </a:t>
            </a:r>
            <a:r>
              <a:rPr lang="en-GB" sz="1600" dirty="0" smtClean="0"/>
              <a:t>vulnerabilities </a:t>
            </a:r>
            <a:r>
              <a:rPr lang="en-GB" sz="1600" dirty="0"/>
              <a:t>to gain unauthorized access or deploy malware</a:t>
            </a:r>
            <a:r>
              <a:rPr lang="en-GB" sz="1600" dirty="0" smtClean="0"/>
              <a:t>.</a:t>
            </a:r>
          </a:p>
          <a:p>
            <a:pPr>
              <a:buFont typeface="Wingdings" panose="05000000000000000000" pitchFamily="2" charset="2"/>
              <a:buChar char="v"/>
            </a:pPr>
            <a:r>
              <a:rPr lang="en-GB" sz="2000" b="1" dirty="0" smtClean="0"/>
              <a:t>Inadequate </a:t>
            </a:r>
            <a:r>
              <a:rPr lang="en-GB" sz="2000" b="1" dirty="0"/>
              <a:t>Access </a:t>
            </a:r>
            <a:r>
              <a:rPr lang="en-GB" sz="2000" b="1" dirty="0" smtClean="0"/>
              <a:t>Controls</a:t>
            </a:r>
          </a:p>
          <a:p>
            <a:pPr marL="0" indent="0">
              <a:buNone/>
            </a:pPr>
            <a:r>
              <a:rPr lang="en-GB" sz="1700" dirty="0"/>
              <a:t>Multi-factor authentication (MFA) and proper user role segmentation are vital for data and system security. MFA reduces the risk of account compromise, while </a:t>
            </a:r>
            <a:r>
              <a:rPr lang="en-GB" sz="1700" dirty="0" smtClean="0"/>
              <a:t>role-based </a:t>
            </a:r>
            <a:r>
              <a:rPr lang="en-GB" sz="1700" dirty="0"/>
              <a:t>access controls limit unauthorized access to sensitive information</a:t>
            </a:r>
            <a:r>
              <a:rPr lang="en-GB" sz="1700" dirty="0" smtClean="0"/>
              <a:t>.</a:t>
            </a:r>
          </a:p>
          <a:p>
            <a:pPr lvl="0">
              <a:buClr>
                <a:srgbClr val="90C226"/>
              </a:buClr>
              <a:buFont typeface="Wingdings" panose="05000000000000000000" pitchFamily="2" charset="2"/>
              <a:buChar char="v"/>
            </a:pPr>
            <a:r>
              <a:rPr lang="en-GB" sz="2000" b="1" dirty="0">
                <a:solidFill>
                  <a:prstClr val="black">
                    <a:lumMod val="75000"/>
                    <a:lumOff val="25000"/>
                  </a:prstClr>
                </a:solidFill>
              </a:rPr>
              <a:t>Unprotected Labs</a:t>
            </a:r>
            <a:endParaRPr lang="en-GB" sz="2000" dirty="0">
              <a:solidFill>
                <a:prstClr val="black">
                  <a:lumMod val="75000"/>
                  <a:lumOff val="25000"/>
                </a:prstClr>
              </a:solidFill>
            </a:endParaRPr>
          </a:p>
          <a:p>
            <a:pPr marL="0" lvl="0" indent="0">
              <a:buClr>
                <a:srgbClr val="90C226"/>
              </a:buClr>
              <a:buNone/>
            </a:pPr>
            <a:r>
              <a:rPr lang="en-GB" dirty="0">
                <a:solidFill>
                  <a:prstClr val="black">
                    <a:lumMod val="75000"/>
                    <a:lumOff val="25000"/>
                  </a:prstClr>
                </a:solidFill>
              </a:rPr>
              <a:t>Shared resources, especially in computer labs, are vulnerable to unauthorized installations, access, and data theft. Without strict access control measures in place, users may install malicious software or alter system settings. This makes the network as a whole more vulnerable to attacks and compromises the integrity of academic and administrative data stored on these systems.</a:t>
            </a:r>
          </a:p>
          <a:p>
            <a:pPr lvl="0">
              <a:buClr>
                <a:srgbClr val="90C226"/>
              </a:buClr>
              <a:buFont typeface="Wingdings" panose="05000000000000000000" pitchFamily="2" charset="2"/>
              <a:buChar char="v"/>
            </a:pPr>
            <a:r>
              <a:rPr lang="en-GB" sz="2000" b="1" dirty="0">
                <a:solidFill>
                  <a:prstClr val="black">
                    <a:lumMod val="75000"/>
                    <a:lumOff val="25000"/>
                  </a:prstClr>
                </a:solidFill>
              </a:rPr>
              <a:t>Weak Backup Systems</a:t>
            </a:r>
            <a:endParaRPr lang="en-GB" sz="2000" dirty="0">
              <a:solidFill>
                <a:prstClr val="black">
                  <a:lumMod val="75000"/>
                  <a:lumOff val="25000"/>
                </a:prstClr>
              </a:solidFill>
            </a:endParaRPr>
          </a:p>
          <a:p>
            <a:pPr marL="0" lvl="0" indent="0">
              <a:buClr>
                <a:srgbClr val="90C226"/>
              </a:buClr>
              <a:buNone/>
            </a:pPr>
            <a:r>
              <a:rPr lang="en-GB" dirty="0">
                <a:solidFill>
                  <a:prstClr val="black">
                    <a:lumMod val="75000"/>
                    <a:lumOff val="25000"/>
                  </a:prstClr>
                </a:solidFill>
              </a:rPr>
              <a:t>In the event of data loss due to cyberattacks, hardware failure, or accidental deletion, robust backup systems are crucial for rapid recovery. Outdated or insufficient backup protocols, such as infrequent backups or lack of secure storage for backups, can delay recovery times and result in permanent data loss. A lack of reliable backups exacerbates the consequences of a security incident and can severely disrupt operations, particularly for academic institutions where data integrity is paramount</a:t>
            </a:r>
            <a:r>
              <a:rPr lang="en-GB" b="1" dirty="0">
                <a:solidFill>
                  <a:prstClr val="black">
                    <a:lumMod val="75000"/>
                    <a:lumOff val="25000"/>
                  </a:prstClr>
                </a:solidFill>
              </a:rPr>
              <a:t>.</a:t>
            </a:r>
            <a:endParaRPr lang="en-GB" dirty="0">
              <a:solidFill>
                <a:prstClr val="black">
                  <a:lumMod val="75000"/>
                  <a:lumOff val="25000"/>
                </a:prstClr>
              </a:solidFill>
            </a:endParaRPr>
          </a:p>
          <a:p>
            <a:pPr marL="0" indent="0">
              <a:buNone/>
            </a:pPr>
            <a:endParaRPr lang="en-GB" sz="2400" dirty="0" smtClean="0"/>
          </a:p>
        </p:txBody>
      </p:sp>
    </p:spTree>
    <p:extLst>
      <p:ext uri="{BB962C8B-B14F-4D97-AF65-F5344CB8AC3E}">
        <p14:creationId xmlns:p14="http://schemas.microsoft.com/office/powerpoint/2010/main" val="203562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pPr marL="0" indent="0">
              <a:buNone/>
            </a:pPr>
            <a:r>
              <a:rPr lang="en-GB" b="1" dirty="0"/>
              <a:t>Benefits of Network Monitoring Tools </a:t>
            </a:r>
            <a:endParaRPr lang="en-GB" dirty="0"/>
          </a:p>
          <a:p>
            <a:pPr marL="0" indent="0">
              <a:buNone/>
            </a:pPr>
            <a:r>
              <a:rPr lang="en-GB" b="1" dirty="0"/>
              <a:t>Real-time threat </a:t>
            </a:r>
            <a:r>
              <a:rPr lang="en-GB" b="1" dirty="0" smtClean="0"/>
              <a:t>detection</a:t>
            </a:r>
          </a:p>
          <a:p>
            <a:pPr marL="0" indent="0">
              <a:buNone/>
            </a:pPr>
            <a:r>
              <a:rPr lang="en-GB" dirty="0"/>
              <a:t>Network monitoring systems can detect unusual activity or traffic patterns to identify threats like ransomware or malware attacks before they escalate, ultimately reducing the risk of a major breach</a:t>
            </a:r>
            <a:r>
              <a:rPr lang="en-GB" dirty="0" smtClean="0"/>
              <a:t>.</a:t>
            </a:r>
          </a:p>
          <a:p>
            <a:pPr marL="0" indent="0">
              <a:buNone/>
            </a:pPr>
            <a:r>
              <a:rPr lang="en-GB" b="1" dirty="0" smtClean="0"/>
              <a:t>Faster </a:t>
            </a:r>
            <a:r>
              <a:rPr lang="en-GB" b="1" dirty="0"/>
              <a:t>problem resolution</a:t>
            </a:r>
            <a:endParaRPr lang="en-GB" dirty="0"/>
          </a:p>
          <a:p>
            <a:pPr marL="0" indent="0">
              <a:buNone/>
            </a:pPr>
            <a:r>
              <a:rPr lang="en-GB" dirty="0"/>
              <a:t> When network problems occur, monitoring systems provide detailed diagnostics, helping IT teams quickly identify the root cause and resolve issues more effectively. This helps reduce downtime and improve service continuity. </a:t>
            </a:r>
          </a:p>
          <a:p>
            <a:pPr marL="0" indent="0">
              <a:buNone/>
            </a:pPr>
            <a:r>
              <a:rPr lang="en-GB" b="1" dirty="0"/>
              <a:t>Managing Growing Networks</a:t>
            </a:r>
            <a:endParaRPr lang="en-GB" dirty="0"/>
          </a:p>
          <a:p>
            <a:pPr marL="0" indent="0">
              <a:buNone/>
            </a:pPr>
            <a:r>
              <a:rPr lang="en-GB" dirty="0" smtClean="0"/>
              <a:t> As organizations expand their networks, they become more difficult to manage and secure. Network monitoring systems provide the visibility needed to monitor the performance and security of new devices, applications, and services, ensuring they are seamlessly integrated into the network.</a:t>
            </a:r>
          </a:p>
          <a:p>
            <a:pPr marL="0" indent="0">
              <a:buNone/>
            </a:pPr>
            <a:r>
              <a:rPr lang="en-GB" b="1" dirty="0" smtClean="0"/>
              <a:t>Proactive </a:t>
            </a:r>
            <a:r>
              <a:rPr lang="en-GB" b="1" dirty="0"/>
              <a:t>problem identification</a:t>
            </a:r>
            <a:endParaRPr lang="en-GB" dirty="0"/>
          </a:p>
          <a:p>
            <a:pPr marL="0" indent="0">
              <a:buNone/>
            </a:pPr>
            <a:r>
              <a:rPr lang="en-GB" dirty="0"/>
              <a:t>Network monitoring systems can identify potential problems, such as server overloads, network congestion, or hardware failures, before they cause system downtime. This proactive approach ensures smoother operations and avoids downtime</a:t>
            </a:r>
            <a:r>
              <a:rPr lang="en-GB" dirty="0" smtClean="0"/>
              <a:t>.</a:t>
            </a:r>
          </a:p>
          <a:p>
            <a:pPr marL="0" indent="0">
              <a:buNone/>
            </a:pPr>
            <a:r>
              <a:rPr lang="en-GB" b="1" dirty="0"/>
              <a:t>Improved Compliance</a:t>
            </a:r>
            <a:endParaRPr lang="en-GB" dirty="0"/>
          </a:p>
          <a:p>
            <a:pPr marL="0" indent="0">
              <a:buNone/>
            </a:pPr>
            <a:r>
              <a:rPr lang="en-GB" dirty="0"/>
              <a:t> Many regulatory standards (e.g., ISO/IEC 27001) require organizations to maintain an audit trail of their network activities. Network monitoring systems help meet these requirements by ensuring that all activities are recorded and accessible for compliance purposes.</a:t>
            </a:r>
          </a:p>
        </p:txBody>
      </p:sp>
    </p:spTree>
    <p:extLst>
      <p:ext uri="{BB962C8B-B14F-4D97-AF65-F5344CB8AC3E}">
        <p14:creationId xmlns:p14="http://schemas.microsoft.com/office/powerpoint/2010/main" val="829187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7999"/>
          </a:xfrm>
        </p:spPr>
        <p:txBody>
          <a:bodyPr/>
          <a:lstStyle/>
          <a:p>
            <a:pPr marL="0" indent="0">
              <a:buNone/>
            </a:pPr>
            <a:r>
              <a:rPr lang="en-GB" b="1" dirty="0"/>
              <a:t>Security </a:t>
            </a:r>
            <a:r>
              <a:rPr lang="en-GB" b="1" dirty="0" smtClean="0"/>
              <a:t>Countermeasures</a:t>
            </a:r>
          </a:p>
          <a:p>
            <a:pPr marL="0" indent="0">
              <a:buNone/>
            </a:pPr>
            <a:endParaRPr lang="en-GB" b="1" dirty="0" smtClean="0"/>
          </a:p>
          <a:p>
            <a:r>
              <a:rPr lang="en-GB" b="1" dirty="0"/>
              <a:t>Virtual Private Network (VPN) </a:t>
            </a:r>
            <a:endParaRPr lang="en-GB" b="1" dirty="0" smtClean="0"/>
          </a:p>
          <a:p>
            <a:pPr marL="0" indent="0">
              <a:buNone/>
            </a:pPr>
            <a:r>
              <a:rPr lang="en-GB" dirty="0" smtClean="0"/>
              <a:t>A third-party VPN service, if configured incorrectly, can open backdoors in the network, allowing unauthorized access and exposing sensitive data. Weak authentication methods or inappropriate tunneling protocols can leave traffic vulnerable to interception. To mitigate this risk, it is important to use secure VPN protocols such as OpenVPN, implement strong multi-factor authentication (MFA), and ensure that appropriate configurations are applied to prevent leaks and unauthorized connections. </a:t>
            </a:r>
          </a:p>
          <a:p>
            <a:pPr marL="0" indent="0">
              <a:buNone/>
            </a:pPr>
            <a:endParaRPr lang="en-GB" dirty="0"/>
          </a:p>
          <a:p>
            <a:r>
              <a:rPr lang="en-GB" b="1" dirty="0"/>
              <a:t>Firewall </a:t>
            </a:r>
            <a:endParaRPr lang="en-GB" dirty="0"/>
          </a:p>
          <a:p>
            <a:pPr marL="0" indent="0">
              <a:buNone/>
            </a:pPr>
            <a:r>
              <a:rPr lang="en-GB" dirty="0"/>
              <a:t>A poorly configured firewall rule can block legitimate traffic or allow unauthorized access, which can create security vulnerabilities. If a firewall rule allows all incoming traffic on a certain port, attackers can exploit this open port and gain unauthorized access to systems. To avoid it, it is essential to implement strict firewall rules based on the principle of least privilege, ensuring that only necessary traffic is allowed.</a:t>
            </a:r>
          </a:p>
          <a:p>
            <a:endParaRPr lang="en-GB" dirty="0"/>
          </a:p>
        </p:txBody>
      </p:sp>
    </p:spTree>
    <p:extLst>
      <p:ext uri="{BB962C8B-B14F-4D97-AF65-F5344CB8AC3E}">
        <p14:creationId xmlns:p14="http://schemas.microsoft.com/office/powerpoint/2010/main" val="1946881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7999"/>
          </a:xfrm>
        </p:spPr>
        <p:txBody>
          <a:bodyPr/>
          <a:lstStyle/>
          <a:p>
            <a:pPr marL="0" indent="0">
              <a:buNone/>
            </a:pPr>
            <a:r>
              <a:rPr lang="en-GB" b="1" dirty="0" smtClean="0"/>
              <a:t>Improve of the network security </a:t>
            </a:r>
          </a:p>
          <a:p>
            <a:pPr marL="0" lvl="0" indent="0">
              <a:buNone/>
            </a:pPr>
            <a:r>
              <a:rPr lang="en-GB" dirty="0"/>
              <a:t>DMZ (Demilitarized Zone</a:t>
            </a:r>
            <a:r>
              <a:rPr lang="en-GB" dirty="0" smtClean="0"/>
              <a:t>)</a:t>
            </a:r>
          </a:p>
          <a:p>
            <a:pPr marL="0" lvl="0" indent="0">
              <a:buNone/>
            </a:pPr>
            <a:r>
              <a:rPr lang="en-GB" dirty="0"/>
              <a:t>A DMZ is a network segment that separates public services from the internal network to protect sensitive information from potential attackers</a:t>
            </a:r>
            <a:r>
              <a:rPr lang="en-GB" dirty="0" smtClean="0"/>
              <a:t>.</a:t>
            </a:r>
          </a:p>
          <a:p>
            <a:pPr marL="0" lvl="0" indent="0">
              <a:buNone/>
            </a:pPr>
            <a:r>
              <a:rPr lang="en-GB" dirty="0" smtClean="0"/>
              <a:t>Static IP</a:t>
            </a:r>
          </a:p>
          <a:p>
            <a:pPr marL="0" lvl="0" indent="0">
              <a:buNone/>
            </a:pPr>
            <a:r>
              <a:rPr lang="en-GB" dirty="0"/>
              <a:t>A static IP address is a fixed, unchanging address that simplifies security rules for devices, such as firewall rules. Critical university systems may use static IP addresses with access control rules for additional security.</a:t>
            </a:r>
            <a:endParaRPr lang="en-GB" dirty="0" smtClean="0"/>
          </a:p>
          <a:p>
            <a:pPr marL="0" lvl="0" indent="0">
              <a:buNone/>
            </a:pPr>
            <a:r>
              <a:rPr lang="en-GB" dirty="0" smtClean="0"/>
              <a:t>NAT </a:t>
            </a:r>
            <a:r>
              <a:rPr lang="en-GB" dirty="0"/>
              <a:t>(Network Address </a:t>
            </a:r>
            <a:r>
              <a:rPr lang="en-GB" dirty="0" smtClean="0"/>
              <a:t>Translation)</a:t>
            </a:r>
          </a:p>
          <a:p>
            <a:pPr marL="0" indent="0">
              <a:buNone/>
            </a:pPr>
            <a:r>
              <a:rPr lang="en-GB" dirty="0"/>
              <a:t>NAT is used to hide internal IP addresses for privacy and security, making it harder for attackers to target individual devices on a network. It masks internal IPs with the external IP of a router, reducing the risk of outside threats.</a:t>
            </a:r>
          </a:p>
        </p:txBody>
      </p:sp>
    </p:spTree>
    <p:extLst>
      <p:ext uri="{BB962C8B-B14F-4D97-AF65-F5344CB8AC3E}">
        <p14:creationId xmlns:p14="http://schemas.microsoft.com/office/powerpoint/2010/main" val="3540746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23888" y="320039"/>
            <a:ext cx="11944223" cy="6537837"/>
          </a:xfrm>
          <a:prstGeom prst="rect">
            <a:avLst/>
          </a:prstGeom>
        </p:spPr>
      </p:pic>
    </p:spTree>
    <p:extLst>
      <p:ext uri="{BB962C8B-B14F-4D97-AF65-F5344CB8AC3E}">
        <p14:creationId xmlns:p14="http://schemas.microsoft.com/office/powerpoint/2010/main" val="823576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7999"/>
          </a:xfrm>
        </p:spPr>
        <p:txBody>
          <a:bodyPr/>
          <a:lstStyle/>
          <a:p>
            <a:pPr marL="0" indent="0">
              <a:buNone/>
            </a:pPr>
            <a:r>
              <a:rPr lang="en-GB" dirty="0" smtClean="0"/>
              <a:t>Conduct a security audit </a:t>
            </a:r>
          </a:p>
          <a:p>
            <a:pPr marL="0" indent="0">
              <a:buNone/>
            </a:pPr>
            <a:r>
              <a:rPr lang="en-GB" b="1" dirty="0"/>
              <a:t>1. Define the Scope of the Audit</a:t>
            </a:r>
            <a:endParaRPr lang="en-GB" dirty="0"/>
          </a:p>
          <a:p>
            <a:pPr lvl="0"/>
            <a:r>
              <a:rPr lang="en-GB" b="1" dirty="0"/>
              <a:t>Systems and Assets</a:t>
            </a:r>
            <a:r>
              <a:rPr lang="en-GB" dirty="0"/>
              <a:t>: Identify all the systems, networks, databases, and devices that need to be audited. This includes student information systems, faculty and administrative systems, email servers, Wi-Fi networks, and backup systems.</a:t>
            </a:r>
          </a:p>
          <a:p>
            <a:pPr lvl="0"/>
            <a:r>
              <a:rPr lang="en-GB" b="1" dirty="0"/>
              <a:t>Stakeholders</a:t>
            </a:r>
            <a:r>
              <a:rPr lang="en-GB" dirty="0"/>
              <a:t>: Clarify who will be involved in the audit (e.g., IT team, security specialists, administrators, etc.).</a:t>
            </a:r>
          </a:p>
          <a:p>
            <a:pPr lvl="0"/>
            <a:r>
              <a:rPr lang="en-GB" b="1" dirty="0"/>
              <a:t>Compliance and Policies</a:t>
            </a:r>
            <a:r>
              <a:rPr lang="en-GB" dirty="0"/>
              <a:t>: Review any industry standards, data protection laws, and college policies that the audit should consider (e.g., GDPR, local data protection laws</a:t>
            </a:r>
            <a:r>
              <a:rPr lang="en-GB" dirty="0" smtClean="0"/>
              <a:t>).</a:t>
            </a:r>
          </a:p>
          <a:p>
            <a:pPr marL="0" indent="0">
              <a:buNone/>
            </a:pPr>
            <a:r>
              <a:rPr lang="en-GB" b="1" dirty="0"/>
              <a:t>2. Network Security Assessment</a:t>
            </a:r>
            <a:endParaRPr lang="en-GB" dirty="0"/>
          </a:p>
          <a:p>
            <a:pPr lvl="0"/>
            <a:r>
              <a:rPr lang="en-GB" b="1" dirty="0"/>
              <a:t>Network Architecture Review</a:t>
            </a:r>
            <a:r>
              <a:rPr lang="en-GB" dirty="0"/>
              <a:t>: Examine the network’s design to ensure proper segmentation of sensitive and non-sensitive areas. This includes reviewing firewalls, routers, and VPN configurations.</a:t>
            </a:r>
          </a:p>
          <a:p>
            <a:pPr lvl="0"/>
            <a:r>
              <a:rPr lang="en-GB" b="1" dirty="0"/>
              <a:t>Firewall and IDS/IPS Configuration</a:t>
            </a:r>
            <a:r>
              <a:rPr lang="en-GB" dirty="0"/>
              <a:t>: Ensure firewalls and intrusion detection/prevention systems are correctly configured to block unauthorized access while allowing legitimate traffic.</a:t>
            </a:r>
          </a:p>
          <a:p>
            <a:pPr lvl="0"/>
            <a:r>
              <a:rPr lang="en-GB" b="1" dirty="0"/>
              <a:t>Wi-Fi Security</a:t>
            </a:r>
            <a:r>
              <a:rPr lang="en-GB" dirty="0"/>
              <a:t>: Ensure that Wi-Fi networks are properly secured with encryption (e.g., WPA3), using strong passwords and limiting access.</a:t>
            </a:r>
          </a:p>
          <a:p>
            <a:pPr lvl="0"/>
            <a:endParaRPr lang="en-GB" dirty="0"/>
          </a:p>
        </p:txBody>
      </p:sp>
    </p:spTree>
    <p:extLst>
      <p:ext uri="{BB962C8B-B14F-4D97-AF65-F5344CB8AC3E}">
        <p14:creationId xmlns:p14="http://schemas.microsoft.com/office/powerpoint/2010/main" val="310462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7999"/>
          </a:xfrm>
        </p:spPr>
        <p:txBody>
          <a:bodyPr/>
          <a:lstStyle/>
          <a:p>
            <a:pPr marL="0" indent="0">
              <a:buNone/>
            </a:pPr>
            <a:r>
              <a:rPr lang="en-GB" b="1" dirty="0"/>
              <a:t>3. System and Application Security</a:t>
            </a:r>
            <a:endParaRPr lang="en-GB" dirty="0"/>
          </a:p>
          <a:p>
            <a:pPr lvl="0"/>
            <a:r>
              <a:rPr lang="en-GB" b="1" dirty="0"/>
              <a:t>Patch Management</a:t>
            </a:r>
            <a:r>
              <a:rPr lang="en-GB" dirty="0"/>
              <a:t>: Review processes for applying updates and patches to operating systems, applications, and hardware. Ensure that all critical patches are applied promptly.</a:t>
            </a:r>
          </a:p>
          <a:p>
            <a:pPr lvl="0"/>
            <a:r>
              <a:rPr lang="en-GB" b="1" dirty="0"/>
              <a:t>Access Control Review</a:t>
            </a:r>
            <a:r>
              <a:rPr lang="en-GB" dirty="0"/>
              <a:t>: Check role-based access controls (RBAC) to ensure that users only have access to the systems and data they need. Ensure proper authentication methods (e.g., multi-factor authentication) are used where applicable.</a:t>
            </a:r>
          </a:p>
          <a:p>
            <a:pPr lvl="0"/>
            <a:r>
              <a:rPr lang="en-GB" b="1" dirty="0"/>
              <a:t>Password Policies</a:t>
            </a:r>
            <a:r>
              <a:rPr lang="en-GB" dirty="0"/>
              <a:t>: Audit the college's password policies, ensuring they enforce strong passwords and periodic changes. Implement measures like password complexity requirements and account lockout policies after multiple failed attempts.</a:t>
            </a:r>
          </a:p>
          <a:p>
            <a:pPr lvl="0"/>
            <a:r>
              <a:rPr lang="en-GB" b="1" dirty="0"/>
              <a:t>Endpoint Security</a:t>
            </a:r>
            <a:r>
              <a:rPr lang="en-GB" dirty="0"/>
              <a:t>: Ensure that antivirus software is installed and up to date on all devices, including desktops, laptops, and mobile devices used by staff and students.</a:t>
            </a:r>
          </a:p>
          <a:p>
            <a:pPr marL="0" indent="0">
              <a:buNone/>
            </a:pPr>
            <a:r>
              <a:rPr lang="en-GB" b="1" dirty="0"/>
              <a:t>4</a:t>
            </a:r>
            <a:r>
              <a:rPr lang="en-GB" b="1" dirty="0" smtClean="0"/>
              <a:t>. </a:t>
            </a:r>
            <a:r>
              <a:rPr lang="en-GB" b="1" dirty="0"/>
              <a:t>Reporting and Recommendations</a:t>
            </a:r>
            <a:endParaRPr lang="en-GB" dirty="0"/>
          </a:p>
          <a:p>
            <a:pPr lvl="0"/>
            <a:r>
              <a:rPr lang="en-GB" b="1" dirty="0"/>
              <a:t>Audit Findings</a:t>
            </a:r>
            <a:r>
              <a:rPr lang="en-GB" dirty="0"/>
              <a:t>: Document any vulnerabilities, security weaknesses, and compliance issues discovered during the audit.</a:t>
            </a:r>
          </a:p>
          <a:p>
            <a:pPr lvl="0"/>
            <a:r>
              <a:rPr lang="en-GB" b="1" dirty="0"/>
              <a:t>Prioritize Risks</a:t>
            </a:r>
            <a:r>
              <a:rPr lang="en-GB" dirty="0"/>
              <a:t>: Rank the issues based on their potential impact and likelihood, and provide recommendations for mitigation. For example, if a critical vulnerability in a web application is found, it should be fixed immediately.</a:t>
            </a:r>
          </a:p>
          <a:p>
            <a:pPr lvl="0"/>
            <a:r>
              <a:rPr lang="en-GB" b="1" dirty="0"/>
              <a:t>Action Plan</a:t>
            </a:r>
            <a:r>
              <a:rPr lang="en-GB" dirty="0"/>
              <a:t>: Create a clear, actionable plan with timelines and responsibilities for addressing the identified issues.</a:t>
            </a:r>
          </a:p>
          <a:p>
            <a:pPr marL="0" indent="0">
              <a:buNone/>
            </a:pPr>
            <a:endParaRPr lang="en-GB" dirty="0"/>
          </a:p>
        </p:txBody>
      </p:sp>
    </p:spTree>
    <p:extLst>
      <p:ext uri="{BB962C8B-B14F-4D97-AF65-F5344CB8AC3E}">
        <p14:creationId xmlns:p14="http://schemas.microsoft.com/office/powerpoint/2010/main" val="36617825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7999"/>
          </a:xfrm>
        </p:spPr>
        <p:txBody>
          <a:bodyPr/>
          <a:lstStyle/>
          <a:p>
            <a:pPr marL="0" indent="0">
              <a:buNone/>
            </a:pPr>
            <a:r>
              <a:rPr lang="en-GB" b="1" dirty="0" smtClean="0"/>
              <a:t>Some action to Virtual and physical security  </a:t>
            </a:r>
            <a:r>
              <a:rPr lang="en-GB" b="1" dirty="0"/>
              <a:t>Countermeasures</a:t>
            </a:r>
            <a:endParaRPr lang="en-GB" dirty="0"/>
          </a:p>
          <a:p>
            <a:pPr marL="0" lvl="1" indent="0">
              <a:buNone/>
            </a:pPr>
            <a:r>
              <a:rPr lang="en-GB" sz="1800" b="1" dirty="0"/>
              <a:t>Educate Employees, student, staff about Cyber Attacks </a:t>
            </a:r>
          </a:p>
          <a:p>
            <a:pPr marL="0" indent="0">
              <a:buNone/>
            </a:pPr>
            <a:r>
              <a:rPr lang="en-GB" dirty="0"/>
              <a:t>Most employees and students and staff lack confidence in dealing with ransomware attacks. Every college member should possess a basic </a:t>
            </a:r>
            <a:r>
              <a:rPr lang="en-GB" dirty="0" smtClean="0"/>
              <a:t>understanding </a:t>
            </a:r>
            <a:r>
              <a:rPr lang="en-GB" dirty="0"/>
              <a:t>of </a:t>
            </a:r>
            <a:r>
              <a:rPr lang="en-GB" dirty="0" smtClean="0"/>
              <a:t>ransomware</a:t>
            </a:r>
          </a:p>
          <a:p>
            <a:pPr marL="0" indent="0">
              <a:buNone/>
            </a:pPr>
            <a:r>
              <a:rPr lang="en-GB" b="1" dirty="0" smtClean="0"/>
              <a:t>Update </a:t>
            </a:r>
            <a:r>
              <a:rPr lang="en-GB" b="1" dirty="0"/>
              <a:t>and patch operating systems and software </a:t>
            </a:r>
            <a:endParaRPr lang="en-GB" b="1" dirty="0" smtClean="0"/>
          </a:p>
          <a:p>
            <a:pPr marL="0" indent="0">
              <a:buNone/>
            </a:pPr>
            <a:r>
              <a:rPr lang="en-GB" dirty="0"/>
              <a:t>Attackers invest significant effort in identifying exploitable weaknesses, and IT professionals should take similar precautions to thwart malware and ransomware </a:t>
            </a:r>
            <a:r>
              <a:rPr lang="en-GB" dirty="0" smtClean="0"/>
              <a:t>threats</a:t>
            </a:r>
          </a:p>
          <a:p>
            <a:pPr marL="0" lvl="1" indent="0">
              <a:buNone/>
            </a:pPr>
            <a:r>
              <a:rPr lang="en-GB" sz="1800" b="1" dirty="0"/>
              <a:t>Implement a Firewall to Protect the System  </a:t>
            </a:r>
          </a:p>
          <a:p>
            <a:pPr marL="0" indent="0">
              <a:buNone/>
            </a:pPr>
            <a:r>
              <a:rPr lang="en-GB" dirty="0"/>
              <a:t>A firewall serves as a protective barrier for your device against internet-based threats like data-driven malware. It manages the flow of data between your device and servers and routers in the online environment, continuously scrutinizing this data for potential risks. </a:t>
            </a:r>
          </a:p>
          <a:p>
            <a:pPr marL="0" indent="0">
              <a:buNone/>
            </a:pPr>
            <a:r>
              <a:rPr lang="en-GB" b="1" dirty="0" smtClean="0"/>
              <a:t>Protecting </a:t>
            </a:r>
            <a:r>
              <a:rPr lang="en-GB" b="1" dirty="0"/>
              <a:t>Data from Theft </a:t>
            </a:r>
            <a:endParaRPr lang="en-GB" b="1" dirty="0" smtClean="0"/>
          </a:p>
          <a:p>
            <a:pPr marL="0" indent="0">
              <a:buNone/>
            </a:pPr>
            <a:r>
              <a:rPr lang="en-GB" dirty="0" smtClean="0"/>
              <a:t>The </a:t>
            </a:r>
            <a:r>
              <a:rPr lang="en-GB" dirty="0"/>
              <a:t>policy requires employees to clear their desks at the end of each work day and store all information </a:t>
            </a:r>
            <a:r>
              <a:rPr lang="en-GB" dirty="0" smtClean="0"/>
              <a:t>securely</a:t>
            </a:r>
          </a:p>
          <a:p>
            <a:pPr marL="0" indent="0">
              <a:buNone/>
            </a:pPr>
            <a:r>
              <a:rPr lang="en-GB" b="1" dirty="0"/>
              <a:t>Disaster Recovery Plan </a:t>
            </a:r>
            <a:endParaRPr lang="en-GB" b="1" dirty="0" smtClean="0"/>
          </a:p>
          <a:p>
            <a:pPr marL="0" indent="0">
              <a:buNone/>
            </a:pPr>
            <a:r>
              <a:rPr lang="en-GB" dirty="0"/>
              <a:t>clear procedures issued by the company to deal with unexpected events such as natural disasters, power outages, cyber-attacks, and other related events</a:t>
            </a:r>
            <a:r>
              <a:rPr lang="en-GB" dirty="0" smtClean="0"/>
              <a:t>.</a:t>
            </a:r>
          </a:p>
          <a:p>
            <a:pPr marL="0" indent="0">
              <a:buNone/>
            </a:pPr>
            <a:r>
              <a:rPr lang="en-GB" dirty="0" smtClean="0"/>
              <a:t> </a:t>
            </a:r>
            <a:r>
              <a:rPr lang="en-GB" b="1" dirty="0"/>
              <a:t>Implement CCTV cameras and biometric devices </a:t>
            </a:r>
          </a:p>
          <a:p>
            <a:pPr marL="0" indent="0">
              <a:buNone/>
            </a:pPr>
            <a:r>
              <a:rPr lang="en-GB" dirty="0"/>
              <a:t>Biometric scanners capture personal biometric data to establish your identity, typically using fingerprints or other unique characteristics as access keys.</a:t>
            </a:r>
          </a:p>
        </p:txBody>
      </p:sp>
    </p:spTree>
    <p:extLst>
      <p:ext uri="{BB962C8B-B14F-4D97-AF65-F5344CB8AC3E}">
        <p14:creationId xmlns:p14="http://schemas.microsoft.com/office/powerpoint/2010/main" val="24211291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7999"/>
          </a:xfrm>
        </p:spPr>
        <p:txBody>
          <a:bodyPr/>
          <a:lstStyle/>
          <a:p>
            <a:pPr marL="0" indent="0">
              <a:buNone/>
            </a:pPr>
            <a:r>
              <a:rPr lang="en-GB" b="1" dirty="0"/>
              <a:t>Objectives of the </a:t>
            </a:r>
            <a:r>
              <a:rPr lang="en-GB" b="1" dirty="0" smtClean="0"/>
              <a:t>ISMS</a:t>
            </a:r>
          </a:p>
          <a:p>
            <a:pPr marL="0" indent="0">
              <a:buNone/>
            </a:pPr>
            <a:endParaRPr lang="en-GB" dirty="0"/>
          </a:p>
          <a:p>
            <a:pPr lvl="0"/>
            <a:r>
              <a:rPr lang="en-GB" dirty="0"/>
              <a:t>Protect confidentiality, integrity, and availability of systems and data.</a:t>
            </a:r>
          </a:p>
          <a:p>
            <a:pPr lvl="0"/>
            <a:r>
              <a:rPr lang="en-GB" dirty="0"/>
              <a:t>Support operational efficiency and regulatory compliance.</a:t>
            </a:r>
          </a:p>
          <a:p>
            <a:pPr lvl="0"/>
            <a:r>
              <a:rPr lang="en-GB" dirty="0"/>
              <a:t>Prepare the college for future technological growth</a:t>
            </a:r>
            <a:r>
              <a:rPr lang="en-GB" dirty="0" smtClean="0"/>
              <a:t>.</a:t>
            </a:r>
          </a:p>
          <a:p>
            <a:pPr marL="0" lvl="0" indent="0">
              <a:buNone/>
            </a:pPr>
            <a:endParaRPr lang="en-GB" dirty="0" smtClean="0"/>
          </a:p>
          <a:p>
            <a:pPr marL="0" lvl="0" indent="0">
              <a:buNone/>
            </a:pPr>
            <a:endParaRPr lang="en-GB" dirty="0"/>
          </a:p>
          <a:p>
            <a:pPr marL="0" lvl="0" indent="0">
              <a:buNone/>
            </a:pPr>
            <a:endParaRPr lang="en-GB" dirty="0"/>
          </a:p>
          <a:p>
            <a:pPr marL="0" indent="0">
              <a:buNone/>
            </a:pPr>
            <a:r>
              <a:rPr lang="en-GB" dirty="0" smtClean="0"/>
              <a:t>Key principles of ISMS</a:t>
            </a:r>
          </a:p>
          <a:p>
            <a:pPr lvl="0"/>
            <a:r>
              <a:rPr lang="en-GB" b="1" dirty="0"/>
              <a:t>Confidentiality:</a:t>
            </a:r>
            <a:r>
              <a:rPr lang="en-GB" dirty="0"/>
              <a:t> Ensures that sensitive information is accessible only to authorized individuals. For example, student grades or staff payroll details should not be viewed or shared by unauthorized personnel</a:t>
            </a:r>
            <a:r>
              <a:rPr lang="en-GB" dirty="0" smtClean="0"/>
              <a:t>.</a:t>
            </a:r>
            <a:endParaRPr lang="en-GB" dirty="0"/>
          </a:p>
          <a:p>
            <a:pPr lvl="0"/>
            <a:r>
              <a:rPr lang="en-GB" b="1" dirty="0"/>
              <a:t>Integrity:</a:t>
            </a:r>
            <a:r>
              <a:rPr lang="en-GB" dirty="0"/>
              <a:t> Maintains the accuracy and reliability of information by preventing unauthorized alterations. This principle ensures that research data, student records, and administrative files remain accurate and trustworthy.</a:t>
            </a:r>
          </a:p>
          <a:p>
            <a:pPr lvl="0"/>
            <a:r>
              <a:rPr lang="en-GB" b="1" dirty="0"/>
              <a:t>Availability:</a:t>
            </a:r>
            <a:r>
              <a:rPr lang="en-GB" dirty="0"/>
              <a:t> Ensures that critical information and systems are accessible when needed. This is especially important for academic schedules, online learning platforms, and administrative operations</a:t>
            </a:r>
            <a:r>
              <a:rPr lang="en-GB" dirty="0" smtClean="0"/>
              <a:t>.</a:t>
            </a:r>
          </a:p>
        </p:txBody>
      </p:sp>
    </p:spTree>
    <p:extLst>
      <p:ext uri="{BB962C8B-B14F-4D97-AF65-F5344CB8AC3E}">
        <p14:creationId xmlns:p14="http://schemas.microsoft.com/office/powerpoint/2010/main" val="4189466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7999"/>
          </a:xfrm>
        </p:spPr>
        <p:txBody>
          <a:bodyPr/>
          <a:lstStyle/>
          <a:p>
            <a:pPr marL="0" indent="0">
              <a:buNone/>
            </a:pPr>
            <a:r>
              <a:rPr lang="en-GB" b="1" dirty="0"/>
              <a:t>Benefits Effective Information Security Management System (ISMS)</a:t>
            </a:r>
            <a:r>
              <a:rPr lang="en-GB" dirty="0"/>
              <a:t> </a:t>
            </a:r>
          </a:p>
          <a:p>
            <a:pPr marL="0" lvl="0" indent="0">
              <a:buNone/>
            </a:pPr>
            <a:r>
              <a:rPr lang="en-GB" b="1" dirty="0"/>
              <a:t>Protection of sensitive data</a:t>
            </a:r>
            <a:endParaRPr lang="en-GB" dirty="0"/>
          </a:p>
          <a:p>
            <a:pPr marL="0" indent="0">
              <a:buNone/>
            </a:pPr>
            <a:r>
              <a:rPr lang="en-GB" dirty="0"/>
              <a:t>An ISMS system protects critical information such as student records, financial information and research data. By implementing strong security measures, the college can prevent data breaches and unauthorized access. </a:t>
            </a:r>
          </a:p>
          <a:p>
            <a:pPr marL="0" lvl="0" indent="0">
              <a:buNone/>
            </a:pPr>
            <a:r>
              <a:rPr lang="en-GB" b="1" dirty="0"/>
              <a:t>Reducing cybersecurity threats</a:t>
            </a:r>
            <a:endParaRPr lang="en-GB" dirty="0"/>
          </a:p>
          <a:p>
            <a:pPr marL="0" indent="0">
              <a:buNone/>
            </a:pPr>
            <a:r>
              <a:rPr lang="en-GB" dirty="0"/>
              <a:t>The IT security management system helps identify and mitigate risks such as ransomware, phishing and malware attacks. This reduces the likelihood of incidents that can disrupt academic and administrative activities. </a:t>
            </a:r>
            <a:endParaRPr lang="en-GB" dirty="0" smtClean="0"/>
          </a:p>
          <a:p>
            <a:pPr marL="0" lvl="0" indent="0">
              <a:buNone/>
            </a:pPr>
            <a:r>
              <a:rPr lang="en-GB" b="1" dirty="0"/>
              <a:t>Support for hybrid learning models</a:t>
            </a:r>
            <a:endParaRPr lang="en-GB" dirty="0"/>
          </a:p>
          <a:p>
            <a:pPr marL="0" indent="0">
              <a:buNone/>
            </a:pPr>
            <a:r>
              <a:rPr lang="en-GB" dirty="0"/>
              <a:t>As universities expand their online learning platforms, an ISMS ensures secure access for students and faculty, protects virtual classrooms, and protects personal data during remote sessions. </a:t>
            </a:r>
            <a:endParaRPr lang="en-GB" dirty="0" smtClean="0"/>
          </a:p>
          <a:p>
            <a:pPr marL="0" indent="0">
              <a:buNone/>
            </a:pPr>
            <a:r>
              <a:rPr lang="en-GB" b="1" dirty="0"/>
              <a:t>Improved Trust and </a:t>
            </a:r>
            <a:r>
              <a:rPr lang="en-GB" b="1" dirty="0" smtClean="0"/>
              <a:t>Reputation</a:t>
            </a:r>
          </a:p>
          <a:p>
            <a:pPr marL="0" indent="0">
              <a:buNone/>
            </a:pPr>
            <a:r>
              <a:rPr lang="en-GB" dirty="0"/>
              <a:t>A strong information security management system demonstrates the institution’s commitment to information security, which fosters trust among students, parents, and academic partners. It reinforces the institution’s reputation as a safe and trustworthy organization. </a:t>
            </a:r>
            <a:endParaRPr lang="en-GB" dirty="0" smtClean="0"/>
          </a:p>
          <a:p>
            <a:pPr marL="0" lvl="0" indent="0">
              <a:buNone/>
            </a:pPr>
            <a:r>
              <a:rPr lang="en-GB" b="1" dirty="0"/>
              <a:t>Improve business continuity</a:t>
            </a:r>
            <a:endParaRPr lang="en-GB" dirty="0"/>
          </a:p>
          <a:p>
            <a:pPr marL="0" indent="0">
              <a:buNone/>
            </a:pPr>
            <a:r>
              <a:rPr lang="en-GB" dirty="0"/>
              <a:t>With a clear disaster recovery and incident response framework, the university can quickly recover from security breaches or system outages, ensuring minimal downtime for students and staff. </a:t>
            </a:r>
          </a:p>
        </p:txBody>
      </p:sp>
    </p:spTree>
    <p:extLst>
      <p:ext uri="{BB962C8B-B14F-4D97-AF65-F5344CB8AC3E}">
        <p14:creationId xmlns:p14="http://schemas.microsoft.com/office/powerpoint/2010/main" val="1262248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7999"/>
          </a:xfrm>
        </p:spPr>
        <p:txBody>
          <a:bodyPr>
            <a:normAutofit fontScale="92500" lnSpcReduction="20000"/>
          </a:bodyPr>
          <a:lstStyle/>
          <a:p>
            <a:pPr marL="0" indent="0">
              <a:buNone/>
            </a:pPr>
            <a:endParaRPr lang="en-GB" dirty="0"/>
          </a:p>
          <a:p>
            <a:pPr marL="0" indent="0">
              <a:buNone/>
            </a:pPr>
            <a:r>
              <a:rPr lang="en-GB" b="1" dirty="0"/>
              <a:t>Review of Current Risk Assessment Procedures at Colombo Advanced College </a:t>
            </a:r>
            <a:endParaRPr lang="en-GB" dirty="0"/>
          </a:p>
          <a:p>
            <a:pPr lvl="0"/>
            <a:r>
              <a:rPr lang="en-GB" dirty="0"/>
              <a:t>Risk Identification</a:t>
            </a:r>
          </a:p>
          <a:p>
            <a:r>
              <a:rPr lang="en-GB" dirty="0"/>
              <a:t>The College performs basic risk identification processes, focusing on common threats such as malware, phishing and unauthorized access. However, the scope appears to be limited, with less attention paid to advanced threats such as distributed denial of service (DDoS) attacks or insider risks. </a:t>
            </a:r>
          </a:p>
          <a:p>
            <a:pPr lvl="0"/>
            <a:r>
              <a:rPr lang="en-GB" dirty="0"/>
              <a:t>Vulnerability analysis</a:t>
            </a:r>
          </a:p>
          <a:p>
            <a:r>
              <a:rPr lang="en-GB" dirty="0"/>
              <a:t>The college looks for vulnerabilities in its systems, including outdated software and weak passwords. However, there does not appear to be a comprehensive assessment of all network equipment, labs, or critical systems, leaving blind spots in the infrastructure. </a:t>
            </a:r>
          </a:p>
          <a:p>
            <a:pPr lvl="0"/>
            <a:r>
              <a:rPr lang="en-GB" dirty="0"/>
              <a:t>Lack of regular updates</a:t>
            </a:r>
          </a:p>
          <a:p>
            <a:r>
              <a:rPr lang="en-GB" dirty="0"/>
              <a:t>Risk assessments are not conducted frequently enough to monitor new threats. The lack of regular reviews means that new emerging risks can go unnoticed until they cause significant damage. </a:t>
            </a:r>
          </a:p>
          <a:p>
            <a:pPr lvl="0"/>
            <a:r>
              <a:rPr lang="en-GB" dirty="0"/>
              <a:t>Limited risk   prioritization</a:t>
            </a:r>
          </a:p>
          <a:p>
            <a:r>
              <a:rPr lang="en-GB" dirty="0"/>
              <a:t>Although the college recognizes some risks, there is no systematic process for prioritizing them based on their likelihood or potential impact. This can lead to resources being spent on minor issues while critical vulnerabilities are not addressed. </a:t>
            </a:r>
          </a:p>
          <a:p>
            <a:pPr lvl="0"/>
            <a:r>
              <a:rPr lang="en-GB" dirty="0"/>
              <a:t>Insufficient documentation and monitoring</a:t>
            </a:r>
          </a:p>
          <a:p>
            <a:r>
              <a:rPr lang="en-GB" dirty="0"/>
              <a:t>The results of the risk assessment are not always well documented or integrated into a continuous monitoring system. It is therefore difficult to verify whether the identified risks have been effectively mitigated. </a:t>
            </a:r>
          </a:p>
          <a:p>
            <a:pPr lvl="0"/>
            <a:r>
              <a:rPr lang="en-GB" dirty="0"/>
              <a:t>Lack of a global policy</a:t>
            </a:r>
          </a:p>
          <a:p>
            <a:r>
              <a:rPr lang="en-GB" dirty="0"/>
              <a:t>Current procedures do not appear to be in line with international standards such as ISO/IEC 27001. Without a clear framework, the risk assessment process lacks structure and depth. Areas for improvement</a:t>
            </a:r>
          </a:p>
        </p:txBody>
      </p:sp>
    </p:spTree>
    <p:extLst>
      <p:ext uri="{BB962C8B-B14F-4D97-AF65-F5344CB8AC3E}">
        <p14:creationId xmlns:p14="http://schemas.microsoft.com/office/powerpoint/2010/main" val="14647888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7999"/>
          </a:xfrm>
        </p:spPr>
        <p:txBody>
          <a:bodyPr/>
          <a:lstStyle/>
          <a:p>
            <a:pPr marL="0" indent="0">
              <a:buNone/>
            </a:pPr>
            <a:r>
              <a:rPr lang="en-GB" b="1" dirty="0"/>
              <a:t>Data Protection Processes and Regulations at Colombo Advanced College</a:t>
            </a:r>
            <a:endParaRPr lang="en-GB" dirty="0"/>
          </a:p>
          <a:p>
            <a:pPr marL="0" indent="0">
              <a:buNone/>
            </a:pPr>
            <a:r>
              <a:rPr lang="en-GB" b="1" dirty="0"/>
              <a:t>1. Data Encryption</a:t>
            </a:r>
            <a:endParaRPr lang="en-GB" dirty="0"/>
          </a:p>
          <a:p>
            <a:r>
              <a:rPr lang="en-GB" dirty="0"/>
              <a:t>Sensitive information, such as student data and financial data, should be encrypted during transmission and storage to prevent unauthorized access.</a:t>
            </a:r>
          </a:p>
          <a:p>
            <a:pPr marL="0" indent="0">
              <a:buNone/>
            </a:pPr>
            <a:r>
              <a:rPr lang="en-GB" b="1" dirty="0"/>
              <a:t> 2. Access Control</a:t>
            </a:r>
            <a:endParaRPr lang="en-GB" dirty="0"/>
          </a:p>
          <a:p>
            <a:r>
              <a:rPr lang="en-GB" dirty="0"/>
              <a:t>Only authorized personnel have access to specific data based on their role. This is possible through strong password policies, multi-factor authentication (MFA), and user role segmentation. </a:t>
            </a:r>
          </a:p>
          <a:p>
            <a:pPr marL="0" indent="0">
              <a:buNone/>
            </a:pPr>
            <a:r>
              <a:rPr lang="en-GB" b="1" dirty="0"/>
              <a:t>3. Regular Backups</a:t>
            </a:r>
            <a:endParaRPr lang="en-GB" dirty="0"/>
          </a:p>
          <a:p>
            <a:r>
              <a:rPr lang="en-GB" dirty="0"/>
              <a:t>Data is regularly backed up and stored securely in multiple locations. This ensures that data can be quickly recovered in the event of an incident, such as a ransomware attack or system crash.</a:t>
            </a:r>
          </a:p>
          <a:p>
            <a:pPr marL="0" indent="0">
              <a:buNone/>
            </a:pPr>
            <a:r>
              <a:rPr lang="en-GB" dirty="0"/>
              <a:t> </a:t>
            </a:r>
            <a:r>
              <a:rPr lang="en-GB" b="1" dirty="0"/>
              <a:t>4. Compliance with legal standards</a:t>
            </a:r>
            <a:endParaRPr lang="en-GB" dirty="0"/>
          </a:p>
          <a:p>
            <a:r>
              <a:rPr lang="en-GB" dirty="0"/>
              <a:t>The College complies with local and international data protection laws, such as the Sri Lanka Data Protection Act and the GDPR (if applicable to international students). These laws require secure data processing, transparency, and user rights regarding personal data.</a:t>
            </a:r>
          </a:p>
          <a:p>
            <a:pPr marL="0" indent="0">
              <a:buNone/>
            </a:pPr>
            <a:r>
              <a:rPr lang="en-GB" b="1" dirty="0"/>
              <a:t> 5. Incident response plan</a:t>
            </a:r>
            <a:endParaRPr lang="en-GB" dirty="0"/>
          </a:p>
          <a:p>
            <a:r>
              <a:rPr lang="en-GB" dirty="0"/>
              <a:t>A structured plan is in place to manage data breaches, ensuring rapid action to minimize damage and to notify affected parties as required by law. </a:t>
            </a:r>
          </a:p>
          <a:p>
            <a:pPr marL="0" indent="0">
              <a:buNone/>
            </a:pPr>
            <a:endParaRPr lang="en-GB" dirty="0"/>
          </a:p>
        </p:txBody>
      </p:sp>
    </p:spTree>
    <p:extLst>
      <p:ext uri="{BB962C8B-B14F-4D97-AF65-F5344CB8AC3E}">
        <p14:creationId xmlns:p14="http://schemas.microsoft.com/office/powerpoint/2010/main" val="2067356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rmAutofit lnSpcReduction="10000"/>
          </a:bodyPr>
          <a:lstStyle/>
          <a:p>
            <a:r>
              <a:rPr lang="en-GB" b="1" dirty="0"/>
              <a:t>Risk-Management Strategy and ISO Standards for Colombo Advanced </a:t>
            </a:r>
            <a:r>
              <a:rPr lang="en-GB" b="1" dirty="0" smtClean="0"/>
              <a:t>College</a:t>
            </a:r>
          </a:p>
          <a:p>
            <a:pPr marL="0" indent="0">
              <a:buNone/>
            </a:pPr>
            <a:r>
              <a:rPr lang="en-GB" dirty="0"/>
              <a:t> </a:t>
            </a:r>
          </a:p>
          <a:p>
            <a:r>
              <a:rPr lang="en-GB" b="1" dirty="0"/>
              <a:t>1. Risk Identification</a:t>
            </a:r>
            <a:endParaRPr lang="en-GB" dirty="0"/>
          </a:p>
          <a:p>
            <a:r>
              <a:rPr lang="en-GB" dirty="0"/>
              <a:t>The first step is to identify potential risks such as ransomware, unauthorized access, data theft or system crashes. This includes assessing external threats (such as cyber-attacks) and internal vulnerabilities (such as weak passwords or outdated systems).</a:t>
            </a:r>
          </a:p>
          <a:p>
            <a:r>
              <a:rPr lang="en-GB" dirty="0"/>
              <a:t> </a:t>
            </a:r>
          </a:p>
          <a:p>
            <a:r>
              <a:rPr lang="en-GB" b="1" dirty="0"/>
              <a:t> 2. Risk Assessment</a:t>
            </a:r>
            <a:endParaRPr lang="en-GB" dirty="0"/>
          </a:p>
          <a:p>
            <a:r>
              <a:rPr lang="en-GB" dirty="0"/>
              <a:t>Once risks are identified, they are rated based on their likelihood and impact Of a ransomware attack on student data would be classified as high   and   require immediate attention.</a:t>
            </a:r>
          </a:p>
          <a:p>
            <a:r>
              <a:rPr lang="en-GB" dirty="0"/>
              <a:t> </a:t>
            </a:r>
          </a:p>
          <a:p>
            <a:r>
              <a:rPr lang="en-GB" b="1" dirty="0"/>
              <a:t> 3. Risk Management</a:t>
            </a:r>
            <a:endParaRPr lang="en-GB" dirty="0"/>
          </a:p>
          <a:p>
            <a:r>
              <a:rPr lang="en-GB" dirty="0"/>
              <a:t>Based on the assessment, risks are mitigated through measures such as firewalls, antivirus software, data encryption, and staff training. Risks that cannot be eliminated are managed or transferred (e.g.  Through cyber insurance). </a:t>
            </a:r>
          </a:p>
          <a:p>
            <a:r>
              <a:rPr lang="en-GB" b="1" dirty="0"/>
              <a:t> </a:t>
            </a:r>
            <a:endParaRPr lang="en-GB" dirty="0"/>
          </a:p>
          <a:p>
            <a:r>
              <a:rPr lang="en-GB" b="1" dirty="0"/>
              <a:t>4. Implementing the ISO/IEC 27001 Standard</a:t>
            </a:r>
            <a:endParaRPr lang="en-GB" dirty="0"/>
          </a:p>
          <a:p>
            <a:r>
              <a:rPr lang="en-GB" dirty="0"/>
              <a:t>This standard provides a framework for implementing an information security management system (ISMS). </a:t>
            </a:r>
          </a:p>
          <a:p>
            <a:r>
              <a:rPr lang="en-GB" dirty="0"/>
              <a:t> </a:t>
            </a:r>
          </a:p>
          <a:p>
            <a:pPr marL="0" indent="0">
              <a:buNone/>
            </a:pPr>
            <a:endParaRPr lang="en-GB" dirty="0"/>
          </a:p>
        </p:txBody>
      </p:sp>
    </p:spTree>
    <p:extLst>
      <p:ext uri="{BB962C8B-B14F-4D97-AF65-F5344CB8AC3E}">
        <p14:creationId xmlns:p14="http://schemas.microsoft.com/office/powerpoint/2010/main" val="41577121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12192000" cy="6416040"/>
          </a:xfrm>
        </p:spPr>
        <p:txBody>
          <a:bodyPr>
            <a:normAutofit fontScale="62500" lnSpcReduction="20000"/>
          </a:bodyPr>
          <a:lstStyle/>
          <a:p>
            <a:r>
              <a:rPr lang="en-GB" b="1" dirty="0"/>
              <a:t>Benefits of the Plan</a:t>
            </a:r>
            <a:endParaRPr lang="en-GB" dirty="0"/>
          </a:p>
          <a:p>
            <a:r>
              <a:rPr lang="en-GB" b="1" dirty="0"/>
              <a:t> </a:t>
            </a:r>
            <a:endParaRPr lang="en-GB" dirty="0"/>
          </a:p>
          <a:p>
            <a:r>
              <a:rPr lang="en-GB" b="1" dirty="0"/>
              <a:t>1. Functional Outcomes</a:t>
            </a:r>
            <a:endParaRPr lang="en-GB" dirty="0"/>
          </a:p>
          <a:p>
            <a:r>
              <a:rPr lang="en-GB" b="1" dirty="0"/>
              <a:t>• Protecting Sensitive Academic and Administrative Data</a:t>
            </a:r>
            <a:endParaRPr lang="en-GB" dirty="0"/>
          </a:p>
          <a:p>
            <a:r>
              <a:rPr lang="en-GB" dirty="0"/>
              <a:t>The information management system ensures that critical data, such as student records, faculty information, and academic research, are protected from unauthorized access and potential breaches. By implementing rigorous security controls, the College can maintain the confidentiality, integrity, and availability of sensitive information. </a:t>
            </a:r>
          </a:p>
          <a:p>
            <a:r>
              <a:rPr lang="en-GB" dirty="0"/>
              <a:t> </a:t>
            </a:r>
          </a:p>
          <a:p>
            <a:r>
              <a:rPr lang="en-GB" b="1" dirty="0"/>
              <a:t>• Ensures system   reliability</a:t>
            </a:r>
            <a:endParaRPr lang="en-GB" dirty="0"/>
          </a:p>
          <a:p>
            <a:r>
              <a:rPr lang="en-GB" dirty="0"/>
              <a:t>The  plan ensures that all university systems, including learning platforms, student management systems, and administrative applications, remain operational and resilient to cyber threats. It reduces the likelihood of system outages, ensuring the continued availability of services for staff, students, and faculty. </a:t>
            </a:r>
          </a:p>
          <a:p>
            <a:r>
              <a:rPr lang="en-GB" b="1" dirty="0"/>
              <a:t> </a:t>
            </a:r>
            <a:endParaRPr lang="en-GB" dirty="0"/>
          </a:p>
          <a:p>
            <a:r>
              <a:rPr lang="en-GB" b="1" dirty="0"/>
              <a:t>• Supports regulatory compliance</a:t>
            </a:r>
            <a:endParaRPr lang="en-GB" dirty="0"/>
          </a:p>
          <a:p>
            <a:r>
              <a:rPr lang="en-GB" dirty="0"/>
              <a:t>The information security management system ensures that the college adheres to national and international data protection regulations (such as GDPR, local data protection laws and standards such as ISO/IEC 27001). Compliance with these regulations mitigates the risk of legal and financial penalties while strengthening the college’s reputation as a responsible institution. </a:t>
            </a:r>
          </a:p>
          <a:p>
            <a:r>
              <a:rPr lang="en-GB" b="1" dirty="0"/>
              <a:t>2. Non-functional outcomes</a:t>
            </a:r>
            <a:endParaRPr lang="en-GB" dirty="0"/>
          </a:p>
          <a:p>
            <a:r>
              <a:rPr lang="en-GB" dirty="0"/>
              <a:t> </a:t>
            </a:r>
            <a:r>
              <a:rPr lang="en-GB" b="1" dirty="0"/>
              <a:t>Builds trust among stakeholders</a:t>
            </a:r>
            <a:endParaRPr lang="en-GB" dirty="0"/>
          </a:p>
          <a:p>
            <a:r>
              <a:rPr lang="en-GB" dirty="0"/>
              <a:t>Through strong security measures, the college demonstrates its commitment to protecting personal and academic data, which fosters trust among students, staff, parents and external partners. This trust is essential for maintaining a positive reputation and attracting new students and faculty.</a:t>
            </a:r>
          </a:p>
          <a:p>
            <a:r>
              <a:rPr lang="en-GB" dirty="0"/>
              <a:t> </a:t>
            </a:r>
            <a:r>
              <a:rPr lang="en-GB" b="1" dirty="0"/>
              <a:t>Improves system scalability</a:t>
            </a:r>
            <a:endParaRPr lang="en-GB" dirty="0"/>
          </a:p>
          <a:p>
            <a:r>
              <a:rPr lang="en-GB" dirty="0"/>
              <a:t>The information security management system is designed to support the future growth of the institution. As the institution grows and adopts new technologies or educational models (e.g., blended learning), the security framework will evolve accordingly to ensure that new systems are securely integrated. </a:t>
            </a:r>
          </a:p>
          <a:p>
            <a:r>
              <a:rPr lang="en-GB" b="1" dirty="0"/>
              <a:t> Minimize disruptions during security incidents</a:t>
            </a:r>
            <a:endParaRPr lang="en-GB" dirty="0"/>
          </a:p>
          <a:p>
            <a:r>
              <a:rPr lang="en-GB" dirty="0"/>
              <a:t>Information security management and incident response system   recovery protocols help minimize disruptions during security breaches or system outages. Readiness ensures that the institution can respond quickly to incidents, reducing downtime and mitigating the impact of security threats on academic and administrative operations.</a:t>
            </a:r>
          </a:p>
          <a:p>
            <a:pPr marL="0" indent="0">
              <a:buNone/>
            </a:pPr>
            <a:endParaRPr lang="en-GB" dirty="0"/>
          </a:p>
        </p:txBody>
      </p:sp>
    </p:spTree>
    <p:extLst>
      <p:ext uri="{BB962C8B-B14F-4D97-AF65-F5344CB8AC3E}">
        <p14:creationId xmlns:p14="http://schemas.microsoft.com/office/powerpoint/2010/main" val="4009170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7999"/>
          </a:xfrm>
        </p:spPr>
        <p:txBody>
          <a:bodyPr>
            <a:normAutofit/>
          </a:bodyPr>
          <a:lstStyle/>
          <a:p>
            <a:pPr marL="0" indent="0">
              <a:buNone/>
            </a:pPr>
            <a:endParaRPr lang="en-GB" b="1" dirty="0" smtClean="0"/>
          </a:p>
          <a:p>
            <a:pPr marL="0" indent="0">
              <a:buNone/>
            </a:pPr>
            <a:r>
              <a:rPr lang="en-GB" b="1" dirty="0"/>
              <a:t>Stakeholders and Their Roles in Implementing a Security Audit</a:t>
            </a:r>
            <a:endParaRPr lang="en-GB" dirty="0"/>
          </a:p>
          <a:p>
            <a:pPr marL="0" indent="0">
              <a:buNone/>
            </a:pPr>
            <a:endParaRPr lang="en-GB" b="1" dirty="0"/>
          </a:p>
          <a:p>
            <a:pPr marL="0" indent="0">
              <a:buNone/>
            </a:pPr>
            <a:r>
              <a:rPr lang="en-GB" dirty="0" smtClean="0"/>
              <a:t>Provide detailed </a:t>
            </a:r>
            <a:r>
              <a:rPr lang="en-GB" dirty="0"/>
              <a:t>information on the current state of systems and configurations. </a:t>
            </a:r>
            <a:endParaRPr lang="en-GB" dirty="0" smtClean="0"/>
          </a:p>
          <a:p>
            <a:pPr marL="0" indent="0">
              <a:buNone/>
            </a:pPr>
            <a:endParaRPr lang="en-GB" b="1" dirty="0" smtClean="0"/>
          </a:p>
          <a:p>
            <a:pPr marL="0" indent="0">
              <a:buNone/>
            </a:pPr>
            <a:r>
              <a:rPr lang="en-GB" dirty="0"/>
              <a:t>Review audit findings and make decisions on prioritizing security investments</a:t>
            </a:r>
            <a:r>
              <a:rPr lang="en-GB" dirty="0" smtClean="0"/>
              <a:t>.</a:t>
            </a:r>
          </a:p>
          <a:p>
            <a:pPr marL="0" indent="0">
              <a:buNone/>
            </a:pPr>
            <a:r>
              <a:rPr lang="en-GB" b="1" dirty="0"/>
              <a:t>External Security Auditors or </a:t>
            </a:r>
            <a:r>
              <a:rPr lang="en-GB" b="1" dirty="0" smtClean="0"/>
              <a:t>Consultants</a:t>
            </a:r>
            <a:endParaRPr lang="en-GB" b="1" dirty="0"/>
          </a:p>
          <a:p>
            <a:pPr marL="0" indent="0">
              <a:buNone/>
            </a:pPr>
            <a:r>
              <a:rPr lang="en-GB" dirty="0"/>
              <a:t>Conduct an impartial   assessment of the university’s security posture</a:t>
            </a:r>
            <a:r>
              <a:rPr lang="en-GB" dirty="0" smtClean="0"/>
              <a:t>.</a:t>
            </a:r>
          </a:p>
          <a:p>
            <a:pPr marL="0" indent="0">
              <a:buNone/>
            </a:pPr>
            <a:r>
              <a:rPr lang="en-GB" b="1" dirty="0" smtClean="0"/>
              <a:t>Students</a:t>
            </a:r>
            <a:endParaRPr lang="en-GB" b="1" dirty="0"/>
          </a:p>
          <a:p>
            <a:pPr marL="0" indent="0">
              <a:buNone/>
            </a:pPr>
            <a:r>
              <a:rPr lang="en-GB" dirty="0"/>
              <a:t>Follow the security instructions   presented after the audit</a:t>
            </a:r>
            <a:r>
              <a:rPr lang="en-GB" dirty="0" smtClean="0"/>
              <a:t>.</a:t>
            </a:r>
          </a:p>
          <a:p>
            <a:pPr marL="0" indent="0">
              <a:buNone/>
            </a:pPr>
            <a:r>
              <a:rPr lang="en-GB" b="1" dirty="0"/>
              <a:t>Legal and Compliance </a:t>
            </a:r>
            <a:r>
              <a:rPr lang="en-GB" b="1" dirty="0" smtClean="0"/>
              <a:t>Team</a:t>
            </a:r>
          </a:p>
          <a:p>
            <a:pPr marL="0" indent="0">
              <a:buNone/>
            </a:pPr>
            <a:r>
              <a:rPr lang="en-GB" dirty="0"/>
              <a:t>Ensure  that  the audit complies with  applicable  regulations, such as data protection laws or ISO/IEC 27001  </a:t>
            </a:r>
            <a:r>
              <a:rPr lang="en-GB" dirty="0" smtClean="0"/>
              <a:t>standards</a:t>
            </a:r>
          </a:p>
          <a:p>
            <a:pPr marL="0" indent="0">
              <a:buNone/>
            </a:pPr>
            <a:r>
              <a:rPr lang="en-GB" b="1" dirty="0"/>
              <a:t>Academic and administrative   </a:t>
            </a:r>
            <a:r>
              <a:rPr lang="en-GB" b="1" dirty="0" smtClean="0"/>
              <a:t>staff</a:t>
            </a:r>
          </a:p>
          <a:p>
            <a:pPr marL="0" indent="0">
              <a:buNone/>
            </a:pPr>
            <a:r>
              <a:rPr lang="en-GB" dirty="0"/>
              <a:t>Participate in surveys or interviews to identify potential security issues in daily   operations.   </a:t>
            </a:r>
          </a:p>
        </p:txBody>
      </p:sp>
      <p:graphicFrame>
        <p:nvGraphicFramePr>
          <p:cNvPr id="5" name="Table 4"/>
          <p:cNvGraphicFramePr>
            <a:graphicFrameLocks noGrp="1"/>
          </p:cNvGraphicFramePr>
          <p:nvPr>
            <p:extLst>
              <p:ext uri="{D42A27DB-BD31-4B8C-83A1-F6EECF244321}">
                <p14:modId xmlns:p14="http://schemas.microsoft.com/office/powerpoint/2010/main" val="2979846830"/>
              </p:ext>
            </p:extLst>
          </p:nvPr>
        </p:nvGraphicFramePr>
        <p:xfrm>
          <a:off x="2069707" y="3114074"/>
          <a:ext cx="8128000" cy="2768600"/>
        </p:xfrm>
        <a:graphic>
          <a:graphicData uri="http://schemas.openxmlformats.org/drawingml/2006/table">
            <a:tbl>
              <a:tblPr firstRow="1" bandRow="1">
                <a:tableStyleId>{5C22544A-7EE6-4342-B048-85BDC9FD1C3A}</a:tableStyleId>
              </a:tblPr>
              <a:tblGrid>
                <a:gridCol w="4064000"/>
                <a:gridCol w="4064000"/>
              </a:tblGrid>
              <a:tr h="370840">
                <a:tc>
                  <a:txBody>
                    <a:bodyPr/>
                    <a:lstStyle/>
                    <a:p>
                      <a:endParaRPr lang="en-GB" dirty="0"/>
                    </a:p>
                  </a:txBody>
                  <a:tcPr/>
                </a:tc>
                <a:tc>
                  <a:txBody>
                    <a:bodyPr/>
                    <a:lstStyle/>
                    <a:p>
                      <a:endParaRPr lang="en-GB"/>
                    </a:p>
                  </a:txBody>
                  <a:tcPr/>
                </a:tc>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b="1" dirty="0" smtClean="0"/>
                        <a:t>IT Department</a:t>
                      </a:r>
                    </a:p>
                    <a:p>
                      <a:r>
                        <a:rPr lang="en-GB" b="1" dirty="0" smtClean="0"/>
                        <a:t>College Management </a:t>
                      </a:r>
                      <a:r>
                        <a:rPr lang="en-GB" b="1" smtClean="0"/>
                        <a:t>and Leadership</a:t>
                      </a:r>
                      <a:endParaRPr lang="en-GB" dirty="0"/>
                    </a:p>
                  </a:txBody>
                  <a:tcPr/>
                </a:tc>
                <a:tc>
                  <a:txBody>
                    <a:bodyPr/>
                    <a:lstStyle/>
                    <a:p>
                      <a:endParaRPr lang="en-GB"/>
                    </a:p>
                  </a:txBody>
                  <a:tcPr/>
                </a:tc>
              </a:tr>
              <a:tr h="370840">
                <a:tc>
                  <a:txBody>
                    <a:bodyPr/>
                    <a:lstStyle/>
                    <a:p>
                      <a:endParaRPr lang="en-GB" dirty="0"/>
                    </a:p>
                  </a:txBody>
                  <a:tcPr/>
                </a:tc>
                <a:tc>
                  <a:txBody>
                    <a:bodyPr/>
                    <a:lstStyle/>
                    <a:p>
                      <a:endParaRPr lang="en-GB"/>
                    </a:p>
                  </a:txBody>
                  <a:tcPr/>
                </a:tc>
              </a:tr>
              <a:tr h="370840">
                <a:tc>
                  <a:txBody>
                    <a:bodyPr/>
                    <a:lstStyle/>
                    <a:p>
                      <a:endParaRPr lang="en-GB"/>
                    </a:p>
                  </a:txBody>
                  <a:tcPr/>
                </a:tc>
                <a:tc>
                  <a:txBody>
                    <a:bodyPr/>
                    <a:lstStyle/>
                    <a:p>
                      <a:endParaRPr lang="en-GB"/>
                    </a:p>
                  </a:txBody>
                  <a:tcPr/>
                </a:tc>
              </a:tr>
              <a:tr h="370840">
                <a:tc>
                  <a:txBody>
                    <a:bodyPr/>
                    <a:lstStyle/>
                    <a:p>
                      <a:endParaRPr lang="en-GB"/>
                    </a:p>
                  </a:txBody>
                  <a:tcPr/>
                </a:tc>
                <a:tc>
                  <a:txBody>
                    <a:bodyPr/>
                    <a:lstStyle/>
                    <a:p>
                      <a:endParaRPr lang="en-GB"/>
                    </a:p>
                  </a:txBody>
                  <a:tcPr/>
                </a:tc>
              </a:tr>
              <a:tr h="370840">
                <a:tc>
                  <a:txBody>
                    <a:bodyPr/>
                    <a:lstStyle/>
                    <a:p>
                      <a:endParaRPr lang="en-GB"/>
                    </a:p>
                  </a:txBody>
                  <a:tcPr/>
                </a:tc>
                <a:tc>
                  <a:txBody>
                    <a:bodyPr/>
                    <a:lstStyle/>
                    <a:p>
                      <a:endParaRPr lang="en-GB" dirty="0"/>
                    </a:p>
                  </a:txBody>
                  <a:tcPr/>
                </a:tc>
              </a:tr>
            </a:tbl>
          </a:graphicData>
        </a:graphic>
      </p:graphicFrame>
    </p:spTree>
    <p:extLst>
      <p:ext uri="{BB962C8B-B14F-4D97-AF65-F5344CB8AC3E}">
        <p14:creationId xmlns:p14="http://schemas.microsoft.com/office/powerpoint/2010/main" val="13418226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GB" sz="13800" dirty="0" smtClean="0"/>
              <a:t>Thank you </a:t>
            </a:r>
            <a:endParaRPr lang="en-GB" sz="13800" dirty="0"/>
          </a:p>
        </p:txBody>
      </p:sp>
    </p:spTree>
    <p:extLst>
      <p:ext uri="{BB962C8B-B14F-4D97-AF65-F5344CB8AC3E}">
        <p14:creationId xmlns:p14="http://schemas.microsoft.com/office/powerpoint/2010/main" val="59440089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321</TotalTime>
  <Words>2547</Words>
  <Application>Microsoft Office PowerPoint</Application>
  <PresentationFormat>Widescreen</PresentationFormat>
  <Paragraphs>193</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Times New Roman</vt:lpstr>
      <vt:lpstr>Trebuchet MS</vt:lpstr>
      <vt:lpstr>Wingdings</vt:lpstr>
      <vt:lpstr>Wingdings 3</vt:lpstr>
      <vt:lpstr>Facet</vt:lpstr>
      <vt:lpstr>TechSecure Solutions (Pvt) Ltd.</vt:lpstr>
      <vt:lpstr> IT Security Risk Analysis and Solutions for  Colombo Advanced College</vt:lpstr>
      <vt:lpstr>Security Threats Faced by Colombo Advanced College</vt:lpstr>
      <vt:lpstr>PowerPoint Presentation</vt:lpstr>
      <vt:lpstr>.  Physical Security Risks  Natural Hazards  Colombo Advanced College's urban and coastal location exposes it to natural disasters such as floods, earthquakes, and tsunamis, which could cause significant physical damage to the college's infrastructure and completely disrupt its systems. While these events cannot be prevented, mitigation measures, such as robust disaster recovery planning, off-site backups, and reinforced physical structures, can help protect the college and minimize their impact on academic and administrative operations.  Theft of Data or Equipment  This refers to either unauthorized entry or the improper utilization of files, leading to the sharing or copying of files without consent, or the theft of computing devices that store the data.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TechSecure Solutions (Pvt) Ltd.</dc:title>
  <dc:creator>NewGen</dc:creator>
  <cp:lastModifiedBy>NewGen</cp:lastModifiedBy>
  <cp:revision>30</cp:revision>
  <dcterms:created xsi:type="dcterms:W3CDTF">2024-12-13T11:50:26Z</dcterms:created>
  <dcterms:modified xsi:type="dcterms:W3CDTF">2024-12-17T14:30:29Z</dcterms:modified>
</cp:coreProperties>
</file>