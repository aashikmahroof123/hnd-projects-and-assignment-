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12" r:id="rId1"/>
  </p:sldMasterIdLst>
  <p:sldIdLst>
    <p:sldId id="256" r:id="rId2"/>
    <p:sldId id="257" r:id="rId3"/>
    <p:sldId id="268" r:id="rId4"/>
    <p:sldId id="260" r:id="rId5"/>
    <p:sldId id="263" r:id="rId6"/>
    <p:sldId id="261" r:id="rId7"/>
    <p:sldId id="262" r:id="rId8"/>
    <p:sldId id="259" r:id="rId9"/>
    <p:sldId id="266" r:id="rId10"/>
    <p:sldId id="258" r:id="rId11"/>
    <p:sldId id="264" r:id="rId12"/>
    <p:sldId id="265" r:id="rId13"/>
    <p:sldId id="267" r:id="rId14"/>
    <p:sldId id="270" r:id="rId15"/>
    <p:sldId id="271" r:id="rId16"/>
    <p:sldId id="269"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3" d="100"/>
          <a:sy n="63" d="100"/>
        </p:scale>
        <p:origin x="43"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smtClean="0"/>
              <a:pPr/>
              <a:t>12/25/2024</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smtClean="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58311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smtClean="0"/>
              <a:t>12/25/2024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smtClean="0"/>
              <a:t>‹#›</a:t>
            </a:fld>
            <a:endParaRPr lang="en-US" dirty="0"/>
          </a:p>
        </p:txBody>
      </p:sp>
    </p:spTree>
    <p:extLst>
      <p:ext uri="{BB962C8B-B14F-4D97-AF65-F5344CB8AC3E}">
        <p14:creationId xmlns:p14="http://schemas.microsoft.com/office/powerpoint/2010/main" val="16066865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117865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smtClean="0"/>
              <a:t>12/25/2024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smtClean="0"/>
              <a:t>‹#›</a:t>
            </a:fld>
            <a:endParaRPr lang="en-US" dirty="0"/>
          </a:p>
        </p:txBody>
      </p:sp>
    </p:spTree>
    <p:extLst>
      <p:ext uri="{BB962C8B-B14F-4D97-AF65-F5344CB8AC3E}">
        <p14:creationId xmlns:p14="http://schemas.microsoft.com/office/powerpoint/2010/main" val="4272734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12/25/2024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85939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12/25/2024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18130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12/25/2024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57828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12/25/2024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78223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12/25/2024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110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12/25/2024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9498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33221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564720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2088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282440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312160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12/25/2024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259367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12/25/2024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517145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smtClean="0"/>
              <a:pPr/>
              <a:t>12/25/2024</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20903944"/>
      </p:ext>
    </p:extLst>
  </p:cSld>
  <p:clrMap bg1="lt1" tx1="dk1" bg2="lt2" tx2="dk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 id="2147483824" r:id="rId12"/>
    <p:sldLayoutId id="2147483825" r:id="rId13"/>
    <p:sldLayoutId id="2147483826" r:id="rId14"/>
    <p:sldLayoutId id="2147483827" r:id="rId15"/>
    <p:sldLayoutId id="2147483828" r:id="rId16"/>
    <p:sldLayoutId id="214748382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2692398" y="1973681"/>
            <a:ext cx="6815669" cy="1042984"/>
          </a:xfrm>
        </p:spPr>
        <p:txBody>
          <a:bodyPr anchor="ctr"/>
          <a:lstStyle/>
          <a:p>
            <a:r>
              <a:rPr lang="en-US" sz="4400" b="1" dirty="0"/>
              <a:t>Implementation of the Enomy-Finances Application</a:t>
            </a:r>
          </a:p>
        </p:txBody>
      </p:sp>
      <p:sp>
        <p:nvSpPr>
          <p:cNvPr id="8" name="TextBox 7"/>
          <p:cNvSpPr txBox="1"/>
          <p:nvPr/>
        </p:nvSpPr>
        <p:spPr>
          <a:xfrm>
            <a:off x="2593544" y="4572000"/>
            <a:ext cx="6451602" cy="646331"/>
          </a:xfrm>
          <a:prstGeom prst="rect">
            <a:avLst/>
          </a:prstGeom>
          <a:noFill/>
        </p:spPr>
        <p:txBody>
          <a:bodyPr wrap="square" rtlCol="0">
            <a:spAutoFit/>
          </a:bodyPr>
          <a:lstStyle/>
          <a:p>
            <a:r>
              <a:rPr lang="en-US" dirty="0" smtClean="0"/>
              <a:t>NAME – M.M.M AASHIK</a:t>
            </a:r>
          </a:p>
          <a:p>
            <a:r>
              <a:rPr lang="en-US" dirty="0"/>
              <a:t>ROLE - J</a:t>
            </a:r>
            <a:r>
              <a:rPr lang="en-US" dirty="0" smtClean="0"/>
              <a:t>unior Software Developer </a:t>
            </a:r>
            <a:r>
              <a:rPr lang="en-US" dirty="0"/>
              <a:t>at Phonyt Digital Solutions (PDS)</a:t>
            </a:r>
          </a:p>
        </p:txBody>
      </p:sp>
    </p:spTree>
    <p:extLst>
      <p:ext uri="{BB962C8B-B14F-4D97-AF65-F5344CB8AC3E}">
        <p14:creationId xmlns:p14="http://schemas.microsoft.com/office/powerpoint/2010/main" val="6495799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600" b="1" dirty="0"/>
              <a:t>Enomy-Finances </a:t>
            </a:r>
          </a:p>
        </p:txBody>
      </p:sp>
      <p:sp>
        <p:nvSpPr>
          <p:cNvPr id="5" name="Content Placeholder 4"/>
          <p:cNvSpPr>
            <a:spLocks noGrp="1"/>
          </p:cNvSpPr>
          <p:nvPr>
            <p:ph idx="1"/>
          </p:nvPr>
        </p:nvSpPr>
        <p:spPr>
          <a:xfrm>
            <a:off x="1295401" y="2556932"/>
            <a:ext cx="9601196" cy="3782084"/>
          </a:xfrm>
        </p:spPr>
        <p:txBody>
          <a:bodyPr>
            <a:normAutofit fontScale="77500" lnSpcReduction="20000"/>
          </a:bodyPr>
          <a:lstStyle/>
          <a:p>
            <a:r>
              <a:rPr lang="en-US" sz="2500" dirty="0"/>
              <a:t>Enomy-Finances is an organisation in the financial </a:t>
            </a:r>
            <a:r>
              <a:rPr lang="en-US" sz="2500" dirty="0" smtClean="0"/>
              <a:t>sector.</a:t>
            </a:r>
          </a:p>
          <a:p>
            <a:r>
              <a:rPr lang="en-US" sz="2500" dirty="0" smtClean="0"/>
              <a:t>This organisation provides </a:t>
            </a:r>
            <a:r>
              <a:rPr lang="en-US" sz="2500" dirty="0"/>
              <a:t>advice and services related to mortgages, savings and investments</a:t>
            </a:r>
            <a:r>
              <a:rPr lang="en-US" sz="2500" dirty="0" smtClean="0"/>
              <a:t>.</a:t>
            </a:r>
          </a:p>
          <a:p>
            <a:r>
              <a:rPr lang="en-US" sz="2500" dirty="0"/>
              <a:t>T</a:t>
            </a:r>
            <a:r>
              <a:rPr lang="en-US" sz="2500" dirty="0" smtClean="0"/>
              <a:t>heir </a:t>
            </a:r>
            <a:r>
              <a:rPr lang="en-US" sz="2500" dirty="0"/>
              <a:t>goals </a:t>
            </a:r>
            <a:r>
              <a:rPr lang="en-US" sz="2500" dirty="0" smtClean="0"/>
              <a:t>–</a:t>
            </a:r>
          </a:p>
          <a:p>
            <a:pPr marL="971550" lvl="1" indent="-514350">
              <a:buFont typeface="+mj-lt"/>
              <a:buAutoNum type="romanUcPeriod"/>
            </a:pPr>
            <a:r>
              <a:rPr lang="en-US" sz="2500" dirty="0" smtClean="0"/>
              <a:t>Develop </a:t>
            </a:r>
            <a:r>
              <a:rPr lang="en-US" sz="2500" dirty="0"/>
              <a:t>a </a:t>
            </a:r>
            <a:r>
              <a:rPr lang="en-US" sz="2500" dirty="0" smtClean="0"/>
              <a:t>new Computer System </a:t>
            </a:r>
            <a:r>
              <a:rPr lang="en-US" sz="2500" dirty="0"/>
              <a:t>to calculate currency conversions and provide investment </a:t>
            </a:r>
            <a:r>
              <a:rPr lang="en-US" sz="2500" dirty="0" smtClean="0"/>
              <a:t>quotes</a:t>
            </a:r>
            <a:r>
              <a:rPr lang="en-US" sz="2500" dirty="0"/>
              <a:t>,</a:t>
            </a:r>
            <a:r>
              <a:rPr lang="en-US" sz="2500" dirty="0" smtClean="0"/>
              <a:t> </a:t>
            </a:r>
            <a:r>
              <a:rPr lang="en-US" sz="2500" dirty="0"/>
              <a:t>and secure data </a:t>
            </a:r>
            <a:r>
              <a:rPr lang="en-US" sz="2500" dirty="0" smtClean="0"/>
              <a:t>storage.</a:t>
            </a:r>
          </a:p>
          <a:p>
            <a:pPr marL="971550" lvl="1" indent="-514350">
              <a:buFont typeface="+mj-lt"/>
              <a:buAutoNum type="romanUcPeriod"/>
            </a:pPr>
            <a:r>
              <a:rPr lang="en-US" sz="2500" dirty="0" smtClean="0"/>
              <a:t>Web-based </a:t>
            </a:r>
            <a:r>
              <a:rPr lang="en-US" sz="2500" dirty="0"/>
              <a:t>platform for improved </a:t>
            </a:r>
            <a:r>
              <a:rPr lang="en-US" sz="2500" dirty="0" smtClean="0"/>
              <a:t>accessibility</a:t>
            </a:r>
            <a:endParaRPr lang="en-US" sz="2500" dirty="0"/>
          </a:p>
          <a:p>
            <a:r>
              <a:rPr lang="en-US" sz="2500" dirty="0"/>
              <a:t>Key </a:t>
            </a:r>
            <a:r>
              <a:rPr lang="en-US" sz="2500" dirty="0" smtClean="0"/>
              <a:t>Requirements of the system</a:t>
            </a:r>
            <a:endParaRPr lang="en-US" sz="2500" dirty="0"/>
          </a:p>
          <a:p>
            <a:pPr marL="971550" lvl="1" indent="-514350">
              <a:buFont typeface="+mj-lt"/>
              <a:buAutoNum type="romanUcPeriod"/>
            </a:pPr>
            <a:r>
              <a:rPr lang="en-US" sz="2500" dirty="0"/>
              <a:t>Easy-to-use interface.</a:t>
            </a:r>
          </a:p>
          <a:p>
            <a:pPr marL="971550" lvl="1" indent="-514350">
              <a:buFont typeface="+mj-lt"/>
              <a:buAutoNum type="romanUcPeriod"/>
            </a:pPr>
            <a:r>
              <a:rPr lang="en-US" sz="2500" dirty="0"/>
              <a:t>Real-time currency and investment data updates.</a:t>
            </a:r>
          </a:p>
          <a:p>
            <a:pPr marL="971550" lvl="1" indent="-514350">
              <a:buFont typeface="+mj-lt"/>
              <a:buAutoNum type="romanUcPeriod"/>
            </a:pPr>
            <a:r>
              <a:rPr lang="en-US" sz="2500" dirty="0"/>
              <a:t>Secure storage and user data protection.</a:t>
            </a:r>
          </a:p>
          <a:p>
            <a:endParaRPr lang="en-US" dirty="0"/>
          </a:p>
          <a:p>
            <a:endParaRPr lang="en-US" dirty="0" smtClean="0"/>
          </a:p>
        </p:txBody>
      </p:sp>
      <p:pic>
        <p:nvPicPr>
          <p:cNvPr id="3" name="Picture 2"/>
          <p:cNvPicPr>
            <a:picLocks noChangeAspect="1"/>
          </p:cNvPicPr>
          <p:nvPr/>
        </p:nvPicPr>
        <p:blipFill>
          <a:blip r:embed="rId2"/>
          <a:stretch>
            <a:fillRect/>
          </a:stretch>
        </p:blipFill>
        <p:spPr>
          <a:xfrm>
            <a:off x="8314613" y="4101981"/>
            <a:ext cx="2724150" cy="2022393"/>
          </a:xfrm>
          <a:prstGeom prst="rect">
            <a:avLst/>
          </a:prstGeom>
        </p:spPr>
      </p:pic>
    </p:spTree>
    <p:extLst>
      <p:ext uri="{BB962C8B-B14F-4D97-AF65-F5344CB8AC3E}">
        <p14:creationId xmlns:p14="http://schemas.microsoft.com/office/powerpoint/2010/main" val="460032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Scope of the </a:t>
            </a:r>
            <a:r>
              <a:rPr lang="en-US" b="1" dirty="0" smtClean="0"/>
              <a:t>System</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731578182"/>
              </p:ext>
            </p:extLst>
          </p:nvPr>
        </p:nvGraphicFramePr>
        <p:xfrm>
          <a:off x="1295402" y="2070353"/>
          <a:ext cx="9601200" cy="4087326"/>
        </p:xfrm>
        <a:graphic>
          <a:graphicData uri="http://schemas.openxmlformats.org/drawingml/2006/table">
            <a:tbl>
              <a:tblPr firstRow="1" bandRow="1">
                <a:tableStyleId>{5C22544A-7EE6-4342-B048-85BDC9FD1C3A}</a:tableStyleId>
              </a:tblPr>
              <a:tblGrid>
                <a:gridCol w="4800600"/>
                <a:gridCol w="4800600"/>
              </a:tblGrid>
              <a:tr h="664429">
                <a:tc>
                  <a:txBody>
                    <a:bodyPr/>
                    <a:lstStyle/>
                    <a:p>
                      <a:pPr lvl="0" algn="ctr"/>
                      <a:r>
                        <a:rPr lang="en-US" sz="2400" b="1" kern="1200" dirty="0" smtClean="0">
                          <a:solidFill>
                            <a:schemeClr val="tx1"/>
                          </a:solidFill>
                          <a:effectLst/>
                          <a:latin typeface="+mn-lt"/>
                          <a:ea typeface="+mn-ea"/>
                          <a:cs typeface="+mn-cs"/>
                        </a:rPr>
                        <a:t>Currency Conversion Phase</a:t>
                      </a:r>
                    </a:p>
                    <a:p>
                      <a:endParaRPr lang="en-US" sz="24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b="1" kern="1200" dirty="0" smtClean="0">
                          <a:solidFill>
                            <a:schemeClr val="dk1"/>
                          </a:solidFill>
                          <a:effectLst/>
                          <a:latin typeface="+mn-lt"/>
                          <a:ea typeface="+mn-ea"/>
                          <a:cs typeface="+mn-cs"/>
                        </a:rPr>
                        <a:t>Investment &amp; Savings Phase</a:t>
                      </a:r>
                      <a:endParaRPr lang="en-US" sz="2400" kern="1200" dirty="0" smtClean="0">
                        <a:solidFill>
                          <a:schemeClr val="dk1"/>
                        </a:solidFill>
                        <a:effectLst/>
                        <a:latin typeface="+mn-lt"/>
                        <a:ea typeface="+mn-ea"/>
                        <a:cs typeface="+mn-cs"/>
                      </a:endParaRPr>
                    </a:p>
                    <a:p>
                      <a:endParaRPr lang="en-US" sz="2400" dirty="0"/>
                    </a:p>
                  </a:txBody>
                  <a:tcPr/>
                </a:tc>
              </a:tr>
              <a:tr h="3264366">
                <a:tc>
                  <a:txBody>
                    <a:bodyPr/>
                    <a:lstStyle/>
                    <a:p>
                      <a:pPr lvl="1"/>
                      <a:r>
                        <a:rPr lang="en-US" sz="2000" b="1" kern="1200" dirty="0" smtClean="0">
                          <a:solidFill>
                            <a:schemeClr val="tx1"/>
                          </a:solidFill>
                          <a:effectLst/>
                          <a:latin typeface="+mn-lt"/>
                          <a:ea typeface="+mn-ea"/>
                          <a:cs typeface="+mn-cs"/>
                        </a:rPr>
                        <a:t>Input: Currency value, current exchange rate.</a:t>
                      </a:r>
                    </a:p>
                    <a:p>
                      <a:pPr lvl="1"/>
                      <a:r>
                        <a:rPr lang="en-US" sz="2000" b="1" kern="1200" dirty="0" smtClean="0">
                          <a:solidFill>
                            <a:schemeClr val="tx1"/>
                          </a:solidFill>
                          <a:effectLst/>
                          <a:latin typeface="+mn-lt"/>
                          <a:ea typeface="+mn-ea"/>
                          <a:cs typeface="+mn-cs"/>
                        </a:rPr>
                        <a:t>Output: Converted amount in target currency, transaction fee.</a:t>
                      </a:r>
                    </a:p>
                    <a:p>
                      <a:pPr lvl="1"/>
                      <a:r>
                        <a:rPr lang="en-US" sz="2000" b="1" kern="1200" dirty="0" smtClean="0">
                          <a:solidFill>
                            <a:schemeClr val="tx1"/>
                          </a:solidFill>
                          <a:effectLst/>
                          <a:latin typeface="+mn-lt"/>
                          <a:ea typeface="+mn-ea"/>
                          <a:cs typeface="+mn-cs"/>
                        </a:rPr>
                        <a:t>Process: Convert input amount using current exchange rates and apply transaction fees.</a:t>
                      </a:r>
                    </a:p>
                    <a:p>
                      <a:pPr lvl="1"/>
                      <a:r>
                        <a:rPr lang="en-US" sz="2000" b="1" kern="1200" dirty="0" smtClean="0">
                          <a:solidFill>
                            <a:schemeClr val="tx1"/>
                          </a:solidFill>
                          <a:effectLst/>
                          <a:latin typeface="+mn-lt"/>
                          <a:ea typeface="+mn-ea"/>
                          <a:cs typeface="+mn-cs"/>
                        </a:rPr>
                        <a:t>Security Considerations: Encrypt user data, use secure API for live exchange rate data.</a:t>
                      </a:r>
                    </a:p>
                  </a:txBody>
                  <a:tcPr/>
                </a:tc>
                <a:tc>
                  <a:txBody>
                    <a:bodyPr/>
                    <a:lstStyle/>
                    <a:p>
                      <a:pPr lvl="1"/>
                      <a:r>
                        <a:rPr lang="en-US" sz="2000" b="1" kern="1200" dirty="0" smtClean="0">
                          <a:solidFill>
                            <a:schemeClr val="dk1"/>
                          </a:solidFill>
                          <a:effectLst/>
                          <a:latin typeface="+mn-lt"/>
                          <a:ea typeface="+mn-ea"/>
                          <a:cs typeface="+mn-cs"/>
                        </a:rPr>
                        <a:t>Input:</a:t>
                      </a:r>
                      <a:r>
                        <a:rPr lang="en-US" sz="2000" kern="1200" dirty="0" smtClean="0">
                          <a:solidFill>
                            <a:schemeClr val="dk1"/>
                          </a:solidFill>
                          <a:effectLst/>
                          <a:latin typeface="+mn-lt"/>
                          <a:ea typeface="+mn-ea"/>
                          <a:cs typeface="+mn-cs"/>
                        </a:rPr>
                        <a:t> Initial lump sum, monthly investment, Time Period, investment type.</a:t>
                      </a:r>
                    </a:p>
                    <a:p>
                      <a:pPr lvl="1"/>
                      <a:r>
                        <a:rPr lang="en-US" sz="2000" b="1" kern="1200" dirty="0" smtClean="0">
                          <a:solidFill>
                            <a:schemeClr val="dk1"/>
                          </a:solidFill>
                          <a:effectLst/>
                          <a:latin typeface="+mn-lt"/>
                          <a:ea typeface="+mn-ea"/>
                          <a:cs typeface="+mn-cs"/>
                        </a:rPr>
                        <a:t>Output:</a:t>
                      </a:r>
                      <a:r>
                        <a:rPr lang="en-US" sz="2000" kern="1200" dirty="0" smtClean="0">
                          <a:solidFill>
                            <a:schemeClr val="dk1"/>
                          </a:solidFill>
                          <a:effectLst/>
                          <a:latin typeface="+mn-lt"/>
                          <a:ea typeface="+mn-ea"/>
                          <a:cs typeface="+mn-cs"/>
                        </a:rPr>
                        <a:t> Predicted return, fees, </a:t>
                      </a:r>
                      <a:r>
                        <a:rPr lang="en-US" sz="2000" kern="1200" dirty="0" err="1" smtClean="0">
                          <a:solidFill>
                            <a:schemeClr val="dk1"/>
                          </a:solidFill>
                          <a:effectLst/>
                          <a:latin typeface="+mn-lt"/>
                          <a:ea typeface="+mn-ea"/>
                          <a:cs typeface="+mn-cs"/>
                        </a:rPr>
                        <a:t>taxe</a:t>
                      </a:r>
                      <a:r>
                        <a:rPr lang="en-US" sz="2000" kern="1200" dirty="0" smtClean="0">
                          <a:solidFill>
                            <a:schemeClr val="dk1"/>
                          </a:solidFill>
                          <a:effectLst/>
                          <a:latin typeface="+mn-lt"/>
                          <a:ea typeface="+mn-ea"/>
                          <a:cs typeface="+mn-cs"/>
                        </a:rPr>
                        <a:t>	Personalized Investment Quote.</a:t>
                      </a:r>
                    </a:p>
                    <a:p>
                      <a:pPr lvl="1"/>
                      <a:r>
                        <a:rPr lang="en-US" sz="2000" b="1" kern="1200" dirty="0" smtClean="0">
                          <a:solidFill>
                            <a:schemeClr val="dk1"/>
                          </a:solidFill>
                          <a:effectLst/>
                          <a:latin typeface="+mn-lt"/>
                          <a:ea typeface="+mn-ea"/>
                          <a:cs typeface="+mn-cs"/>
                        </a:rPr>
                        <a:t>Process:</a:t>
                      </a:r>
                      <a:r>
                        <a:rPr lang="en-US" sz="2000" kern="1200" dirty="0" smtClean="0">
                          <a:solidFill>
                            <a:schemeClr val="dk1"/>
                          </a:solidFill>
                          <a:effectLst/>
                          <a:latin typeface="+mn-lt"/>
                          <a:ea typeface="+mn-ea"/>
                          <a:cs typeface="+mn-cs"/>
                        </a:rPr>
                        <a:t> </a:t>
                      </a:r>
                      <a:r>
                        <a:rPr lang="en-US" sz="1800" b="1" kern="1200" dirty="0" smtClean="0">
                          <a:solidFill>
                            <a:schemeClr val="dk1"/>
                          </a:solidFill>
                          <a:effectLst/>
                          <a:latin typeface="+mn-lt"/>
                          <a:ea typeface="+mn-ea"/>
                          <a:cs typeface="+mn-cs"/>
                        </a:rPr>
                        <a:t>Investment </a:t>
                      </a:r>
                      <a:r>
                        <a:rPr lang="en-US" sz="1800" b="1" kern="1200" dirty="0" err="1" smtClean="0">
                          <a:solidFill>
                            <a:schemeClr val="dk1"/>
                          </a:solidFill>
                          <a:effectLst/>
                          <a:latin typeface="+mn-lt"/>
                          <a:ea typeface="+mn-ea"/>
                          <a:cs typeface="+mn-cs"/>
                        </a:rPr>
                        <a:t>Calculation,fee</a:t>
                      </a:r>
                      <a:r>
                        <a:rPr lang="en-US" sz="1800" b="1" kern="1200" dirty="0" smtClean="0">
                          <a:solidFill>
                            <a:schemeClr val="dk1"/>
                          </a:solidFill>
                          <a:effectLst/>
                          <a:latin typeface="+mn-lt"/>
                          <a:ea typeface="+mn-ea"/>
                          <a:cs typeface="+mn-cs"/>
                        </a:rPr>
                        <a:t> </a:t>
                      </a:r>
                      <a:r>
                        <a:rPr lang="en-US" sz="1800" b="1" kern="1200" dirty="0" err="1" smtClean="0">
                          <a:solidFill>
                            <a:schemeClr val="dk1"/>
                          </a:solidFill>
                          <a:effectLst/>
                          <a:latin typeface="+mn-lt"/>
                          <a:ea typeface="+mn-ea"/>
                          <a:cs typeface="+mn-cs"/>
                        </a:rPr>
                        <a:t>calculation,error</a:t>
                      </a:r>
                      <a:r>
                        <a:rPr lang="en-US" sz="1800" b="1" kern="1200" dirty="0" smtClean="0">
                          <a:solidFill>
                            <a:schemeClr val="dk1"/>
                          </a:solidFill>
                          <a:effectLst/>
                          <a:latin typeface="+mn-lt"/>
                          <a:ea typeface="+mn-ea"/>
                          <a:cs typeface="+mn-cs"/>
                        </a:rPr>
                        <a:t> handling ,data validation </a:t>
                      </a:r>
                      <a:r>
                        <a:rPr lang="en-US" sz="2000" kern="1200" dirty="0" smtClean="0">
                          <a:solidFill>
                            <a:schemeClr val="dk1"/>
                          </a:solidFill>
                          <a:effectLst/>
                          <a:latin typeface="+mn-lt"/>
                          <a:ea typeface="+mn-ea"/>
                          <a:cs typeface="+mn-cs"/>
                        </a:rPr>
                        <a:t>.</a:t>
                      </a:r>
                    </a:p>
                    <a:p>
                      <a:pPr lvl="1"/>
                      <a:r>
                        <a:rPr lang="en-US" sz="2000" b="1" kern="1200" dirty="0" smtClean="0">
                          <a:solidFill>
                            <a:schemeClr val="dk1"/>
                          </a:solidFill>
                          <a:effectLst/>
                          <a:latin typeface="+mn-lt"/>
                          <a:ea typeface="+mn-ea"/>
                          <a:cs typeface="+mn-cs"/>
                        </a:rPr>
                        <a:t>Security Considerations:</a:t>
                      </a:r>
                      <a:r>
                        <a:rPr lang="en-US" sz="2000" kern="1200" dirty="0" smtClean="0">
                          <a:solidFill>
                            <a:schemeClr val="dk1"/>
                          </a:solidFill>
                          <a:effectLst/>
                          <a:latin typeface="+mn-lt"/>
                          <a:ea typeface="+mn-ea"/>
                          <a:cs typeface="+mn-cs"/>
                        </a:rPr>
                        <a:t> Secure transaction history, user data encryption.</a:t>
                      </a:r>
                    </a:p>
                    <a:p>
                      <a:endParaRPr lang="en-US" sz="2000" dirty="0"/>
                    </a:p>
                  </a:txBody>
                  <a:tcPr/>
                </a:tc>
              </a:tr>
            </a:tbl>
          </a:graphicData>
        </a:graphic>
      </p:graphicFrame>
    </p:spTree>
    <p:extLst>
      <p:ext uri="{BB962C8B-B14F-4D97-AF65-F5344CB8AC3E}">
        <p14:creationId xmlns:p14="http://schemas.microsoft.com/office/powerpoint/2010/main" val="16614665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457200" indent="-457200" algn="l">
              <a:buFont typeface="Wingdings" panose="05000000000000000000" pitchFamily="2" charset="2"/>
              <a:buChar char="ü"/>
            </a:pPr>
            <a:r>
              <a:rPr lang="en-US" sz="3200" dirty="0"/>
              <a:t>G</a:t>
            </a:r>
            <a:r>
              <a:rPr lang="en-US" sz="3200" dirty="0" smtClean="0"/>
              <a:t>iven below </a:t>
            </a:r>
            <a:r>
              <a:rPr lang="en-US" sz="3200" dirty="0"/>
              <a:t>are various </a:t>
            </a:r>
            <a:r>
              <a:rPr lang="en-US" sz="3200" dirty="0" smtClean="0"/>
              <a:t>SDLC </a:t>
            </a:r>
            <a:r>
              <a:rPr lang="en-US" sz="3200" dirty="0"/>
              <a:t>models that Phonyt Digital Solutions (PDS) could use for </a:t>
            </a:r>
            <a:r>
              <a:rPr lang="en-US" sz="3200" dirty="0" smtClean="0"/>
              <a:t>Enomy-Finances are</a:t>
            </a:r>
            <a:endParaRPr lang="en-US" sz="3200" dirty="0"/>
          </a:p>
        </p:txBody>
      </p:sp>
      <p:pic>
        <p:nvPicPr>
          <p:cNvPr id="2050" name="Picture 2" descr="Choosing the Right Software Development Model for Your Projec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95402" y="2557463"/>
            <a:ext cx="5898444" cy="331787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6845180" y="2570281"/>
            <a:ext cx="4614730" cy="4324261"/>
          </a:xfrm>
          <a:prstGeom prst="rect">
            <a:avLst/>
          </a:prstGeom>
        </p:spPr>
        <p:txBody>
          <a:bodyPr wrap="square">
            <a:spAutoFit/>
          </a:bodyPr>
          <a:lstStyle/>
          <a:p>
            <a:r>
              <a:rPr lang="en-US" dirty="0"/>
              <a:t>	</a:t>
            </a:r>
            <a:r>
              <a:rPr lang="en-US" sz="1700" dirty="0">
                <a:solidFill>
                  <a:srgbClr val="FF0000"/>
                </a:solidFill>
              </a:rPr>
              <a:t>Waterfall:</a:t>
            </a:r>
            <a:r>
              <a:rPr lang="en-US" sz="1700" dirty="0"/>
              <a:t> Sequential, rigid, best for projects with fixed requirements</a:t>
            </a:r>
            <a:r>
              <a:rPr lang="en-US" sz="1700" dirty="0" smtClean="0"/>
              <a:t>.</a:t>
            </a:r>
          </a:p>
          <a:p>
            <a:endParaRPr lang="en-US" sz="1700" dirty="0" smtClean="0"/>
          </a:p>
          <a:p>
            <a:r>
              <a:rPr lang="en-US" sz="1700" dirty="0"/>
              <a:t>	</a:t>
            </a:r>
            <a:r>
              <a:rPr lang="en-US" sz="1700" dirty="0">
                <a:solidFill>
                  <a:srgbClr val="FF0000"/>
                </a:solidFill>
              </a:rPr>
              <a:t>V-Model:</a:t>
            </a:r>
            <a:r>
              <a:rPr lang="en-US" sz="1700" dirty="0"/>
              <a:t> Extension of </a:t>
            </a:r>
            <a:r>
              <a:rPr lang="en-US" sz="1700" dirty="0" smtClean="0"/>
              <a:t>waterfall, emphasizes </a:t>
            </a:r>
            <a:r>
              <a:rPr lang="en-US" sz="1700" dirty="0"/>
              <a:t>validation and verification at each stage</a:t>
            </a:r>
            <a:r>
              <a:rPr lang="en-US" sz="1700" dirty="0" smtClean="0"/>
              <a:t>.</a:t>
            </a:r>
          </a:p>
          <a:p>
            <a:endParaRPr lang="en-US" sz="1700" dirty="0" smtClean="0"/>
          </a:p>
          <a:p>
            <a:r>
              <a:rPr lang="en-US" sz="1700" dirty="0" smtClean="0">
                <a:solidFill>
                  <a:srgbClr val="FF0000"/>
                </a:solidFill>
              </a:rPr>
              <a:t>RAD </a:t>
            </a:r>
            <a:r>
              <a:rPr lang="en-US" sz="1700" dirty="0">
                <a:solidFill>
                  <a:srgbClr val="FF0000"/>
                </a:solidFill>
              </a:rPr>
              <a:t>Model </a:t>
            </a:r>
            <a:r>
              <a:rPr lang="en-US" sz="1700" dirty="0"/>
              <a:t>-that emphasizes quick and iterative release cycles</a:t>
            </a:r>
          </a:p>
          <a:p>
            <a:endParaRPr lang="en-US" sz="1700" dirty="0"/>
          </a:p>
          <a:p>
            <a:r>
              <a:rPr lang="en-US" sz="1700" dirty="0" smtClean="0"/>
              <a:t>   </a:t>
            </a:r>
            <a:r>
              <a:rPr lang="en-US" sz="1700" dirty="0" smtClean="0">
                <a:solidFill>
                  <a:srgbClr val="FF0000"/>
                </a:solidFill>
              </a:rPr>
              <a:t>Spiral</a:t>
            </a:r>
            <a:r>
              <a:rPr lang="en-US" sz="1700" dirty="0"/>
              <a:t>: Combines elements of iterative and waterfall models, focuses on risk assessment</a:t>
            </a:r>
            <a:r>
              <a:rPr lang="en-US" sz="1700" dirty="0" smtClean="0"/>
              <a:t>.</a:t>
            </a:r>
          </a:p>
          <a:p>
            <a:endParaRPr lang="en-US" sz="1700" dirty="0"/>
          </a:p>
          <a:p>
            <a:r>
              <a:rPr lang="en-US" sz="1700" dirty="0">
                <a:solidFill>
                  <a:srgbClr val="FF0000"/>
                </a:solidFill>
              </a:rPr>
              <a:t>Agile: </a:t>
            </a:r>
            <a:r>
              <a:rPr lang="en-US" sz="1700" dirty="0"/>
              <a:t>Iterative, flexible, best for projects with evolving requirements.</a:t>
            </a:r>
          </a:p>
          <a:p>
            <a:endParaRPr lang="en-US" dirty="0" smtClean="0"/>
          </a:p>
          <a:p>
            <a:endParaRPr lang="en-US" dirty="0"/>
          </a:p>
        </p:txBody>
      </p:sp>
      <p:cxnSp>
        <p:nvCxnSpPr>
          <p:cNvPr id="5" name="Straight Arrow Connector 4"/>
          <p:cNvCxnSpPr/>
          <p:nvPr/>
        </p:nvCxnSpPr>
        <p:spPr>
          <a:xfrm>
            <a:off x="6170064" y="2734654"/>
            <a:ext cx="1204957"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7" name="Straight Arrow Connector 6"/>
          <p:cNvCxnSpPr/>
          <p:nvPr/>
        </p:nvCxnSpPr>
        <p:spPr>
          <a:xfrm>
            <a:off x="6443529" y="3290131"/>
            <a:ext cx="931492" cy="26491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9" name="Straight Arrow Connector 8"/>
          <p:cNvCxnSpPr/>
          <p:nvPr/>
        </p:nvCxnSpPr>
        <p:spPr>
          <a:xfrm>
            <a:off x="6443529" y="4723602"/>
            <a:ext cx="623843" cy="25005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1" name="Straight Arrow Connector 10"/>
          <p:cNvCxnSpPr/>
          <p:nvPr/>
        </p:nvCxnSpPr>
        <p:spPr>
          <a:xfrm>
            <a:off x="6067514" y="5665862"/>
            <a:ext cx="828942" cy="854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5" name="Straight Arrow Connector 14"/>
          <p:cNvCxnSpPr/>
          <p:nvPr/>
        </p:nvCxnSpPr>
        <p:spPr>
          <a:xfrm>
            <a:off x="6648628" y="3854153"/>
            <a:ext cx="247828" cy="32474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616332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mn-lt"/>
              </a:rPr>
              <a:t>AGILE METHODOLOGY</a:t>
            </a:r>
            <a:endParaRPr lang="en-US" b="1" dirty="0">
              <a:latin typeface="+mn-lt"/>
            </a:endParaRPr>
          </a:p>
        </p:txBody>
      </p:sp>
      <p:pic>
        <p:nvPicPr>
          <p:cNvPr id="1026" name="Picture 2" descr="Introduction To Agile Methodology"/>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65675" y="2531826"/>
            <a:ext cx="4247260" cy="362114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5383851" y="2531826"/>
            <a:ext cx="6050422" cy="3901774"/>
          </a:xfrm>
          <a:prstGeom prst="rect">
            <a:avLst/>
          </a:prstGeom>
        </p:spPr>
        <p:txBody>
          <a:bodyPr wrap="square">
            <a:spAutoFit/>
          </a:bodyPr>
          <a:lstStyle/>
          <a:p>
            <a:pPr>
              <a:lnSpc>
                <a:spcPct val="103000"/>
              </a:lnSpc>
              <a:spcAft>
                <a:spcPts val="70"/>
              </a:spcAft>
              <a:buSzPts val="1000"/>
              <a:tabLst>
                <a:tab pos="1371600" algn="l"/>
              </a:tabLst>
            </a:pPr>
            <a:r>
              <a:rPr lang="en-US" sz="2400" dirty="0" smtClean="0">
                <a:solidFill>
                  <a:srgbClr val="000000"/>
                </a:solidFill>
                <a:latin typeface="Times New Roman" panose="02020603050405020304" pitchFamily="18" charset="0"/>
                <a:ea typeface="Times New Roman" panose="02020603050405020304" pitchFamily="18" charset="0"/>
              </a:rPr>
              <a:t>WHY AGILE?</a:t>
            </a:r>
          </a:p>
          <a:p>
            <a:pPr marL="342900" indent="-342900" algn="just">
              <a:spcAft>
                <a:spcPts val="70"/>
              </a:spcAft>
              <a:buSzPts val="1000"/>
              <a:buFont typeface="Wingdings" panose="05000000000000000000" pitchFamily="2" charset="2"/>
              <a:buChar char="§"/>
              <a:tabLst>
                <a:tab pos="1371600" algn="l"/>
              </a:tabLst>
            </a:pPr>
            <a:r>
              <a:rPr lang="en-US" sz="2400" dirty="0" smtClean="0">
                <a:solidFill>
                  <a:srgbClr val="000000"/>
                </a:solidFill>
                <a:latin typeface="Times New Roman" panose="02020603050405020304" pitchFamily="18" charset="0"/>
                <a:ea typeface="Times New Roman" panose="02020603050405020304" pitchFamily="18" charset="0"/>
              </a:rPr>
              <a:t>Frequent </a:t>
            </a:r>
            <a:r>
              <a:rPr lang="en-US" sz="2400" dirty="0">
                <a:solidFill>
                  <a:srgbClr val="000000"/>
                </a:solidFill>
                <a:latin typeface="Times New Roman" panose="02020603050405020304" pitchFamily="18" charset="0"/>
                <a:ea typeface="Times New Roman" panose="02020603050405020304" pitchFamily="18" charset="0"/>
              </a:rPr>
              <a:t>releases and iterative feedback ensure that the application aligns with user needs.</a:t>
            </a:r>
            <a:endParaRPr lang="en-US" sz="2400" dirty="0">
              <a:solidFill>
                <a:srgbClr val="000000"/>
              </a:solidFill>
              <a:latin typeface="Calibri" panose="020F0502020204030204" pitchFamily="34" charset="0"/>
              <a:ea typeface="Calibri" panose="020F0502020204030204" pitchFamily="34" charset="0"/>
            </a:endParaRPr>
          </a:p>
          <a:p>
            <a:pPr marL="342900" indent="-342900" algn="just">
              <a:spcAft>
                <a:spcPts val="70"/>
              </a:spcAft>
              <a:buSzPts val="1000"/>
              <a:buFont typeface="Wingdings" panose="05000000000000000000" pitchFamily="2" charset="2"/>
              <a:buChar char="§"/>
              <a:tabLst>
                <a:tab pos="1371600" algn="l"/>
              </a:tabLst>
            </a:pPr>
            <a:r>
              <a:rPr lang="en-US" sz="2400" dirty="0">
                <a:solidFill>
                  <a:srgbClr val="000000"/>
                </a:solidFill>
                <a:latin typeface="Times New Roman" panose="02020603050405020304" pitchFamily="18" charset="0"/>
                <a:ea typeface="Times New Roman" panose="02020603050405020304" pitchFamily="18" charset="0"/>
              </a:rPr>
              <a:t>Allows for quick adjustments based on changing market conditions and financial regulations.</a:t>
            </a:r>
            <a:endParaRPr lang="en-US" sz="2400" dirty="0">
              <a:solidFill>
                <a:srgbClr val="000000"/>
              </a:solidFill>
              <a:latin typeface="Calibri" panose="020F0502020204030204" pitchFamily="34" charset="0"/>
              <a:ea typeface="Calibri" panose="020F0502020204030204" pitchFamily="34" charset="0"/>
            </a:endParaRPr>
          </a:p>
          <a:p>
            <a:pPr marL="342900" indent="-342900" algn="just">
              <a:buFont typeface="Wingdings" panose="05000000000000000000" pitchFamily="2" charset="2"/>
              <a:buChar char="§"/>
            </a:pPr>
            <a:r>
              <a:rPr lang="en-US" sz="2400" dirty="0" smtClean="0">
                <a:latin typeface="Times New Roman" panose="02020603050405020304" pitchFamily="18" charset="0"/>
                <a:ea typeface="Times New Roman" panose="02020603050405020304" pitchFamily="18" charset="0"/>
              </a:rPr>
              <a:t>Facilitates </a:t>
            </a:r>
            <a:r>
              <a:rPr lang="en-US" sz="2400" dirty="0">
                <a:latin typeface="Times New Roman" panose="02020603050405020304" pitchFamily="18" charset="0"/>
                <a:ea typeface="Times New Roman" panose="02020603050405020304" pitchFamily="18" charset="0"/>
              </a:rPr>
              <a:t>close collaboration with stakeholders, which is crucial for a client-facing application</a:t>
            </a:r>
            <a:endParaRPr lang="en-US" sz="2400" dirty="0"/>
          </a:p>
        </p:txBody>
      </p:sp>
    </p:spTree>
    <p:extLst>
      <p:ext uri="{BB962C8B-B14F-4D97-AF65-F5344CB8AC3E}">
        <p14:creationId xmlns:p14="http://schemas.microsoft.com/office/powerpoint/2010/main" val="3044727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1" y="1118864"/>
            <a:ext cx="9601196" cy="1303867"/>
          </a:xfrm>
        </p:spPr>
        <p:txBody>
          <a:bodyPr>
            <a:normAutofit fontScale="90000"/>
          </a:bodyPr>
          <a:lstStyle/>
          <a:p>
            <a:r>
              <a:rPr lang="en-US" sz="5300" b="1" dirty="0" smtClean="0"/>
              <a:t>Why </a:t>
            </a:r>
            <a:r>
              <a:rPr lang="en-US" sz="5300" b="1" dirty="0"/>
              <a:t>Agile is the best fit for the Enomy-Finances project?</a:t>
            </a:r>
            <a:r>
              <a:rPr lang="en-US" dirty="0"/>
              <a:t/>
            </a:r>
            <a:br>
              <a:rPr lang="en-US" dirty="0"/>
            </a:br>
            <a:endParaRPr lang="en-US" dirty="0"/>
          </a:p>
        </p:txBody>
      </p:sp>
      <p:sp>
        <p:nvSpPr>
          <p:cNvPr id="3" name="Content Placeholder 2"/>
          <p:cNvSpPr>
            <a:spLocks noGrp="1"/>
          </p:cNvSpPr>
          <p:nvPr>
            <p:ph idx="1"/>
          </p:nvPr>
        </p:nvSpPr>
        <p:spPr>
          <a:xfrm>
            <a:off x="1295401" y="2187723"/>
            <a:ext cx="9601196" cy="4050707"/>
          </a:xfrm>
        </p:spPr>
        <p:txBody>
          <a:bodyPr>
            <a:normAutofit/>
          </a:bodyPr>
          <a:lstStyle/>
          <a:p>
            <a:pPr marL="0" indent="0">
              <a:buNone/>
            </a:pPr>
            <a:endParaRPr lang="en-US" dirty="0"/>
          </a:p>
          <a:p>
            <a:r>
              <a:rPr lang="en-US" dirty="0"/>
              <a:t>Agile is ideal for the Enomy-Finances system </a:t>
            </a:r>
            <a:endParaRPr lang="en-US" dirty="0" smtClean="0"/>
          </a:p>
          <a:p>
            <a:pPr marL="971550" lvl="1" indent="-514350" algn="just">
              <a:buFont typeface="+mj-lt"/>
              <a:buAutoNum type="romanUcPeriod"/>
            </a:pPr>
            <a:r>
              <a:rPr lang="en-US" dirty="0" smtClean="0"/>
              <a:t>Because </a:t>
            </a:r>
            <a:r>
              <a:rPr lang="en-US" dirty="0"/>
              <a:t>it provides </a:t>
            </a:r>
            <a:r>
              <a:rPr lang="en-US" dirty="0" smtClean="0"/>
              <a:t>flexibility</a:t>
            </a:r>
            <a:r>
              <a:rPr lang="en-US" dirty="0"/>
              <a:t> in the development </a:t>
            </a:r>
            <a:r>
              <a:rPr lang="en-US" dirty="0" smtClean="0"/>
              <a:t>process </a:t>
            </a:r>
            <a:r>
              <a:rPr lang="en-US" dirty="0"/>
              <a:t>to adapt to changing financial regulations and market demands. </a:t>
            </a:r>
            <a:endParaRPr lang="en-US" dirty="0" smtClean="0"/>
          </a:p>
          <a:p>
            <a:pPr marL="971550" lvl="1" indent="-514350" algn="just">
              <a:buFont typeface="+mj-lt"/>
              <a:buAutoNum type="romanUcPeriod"/>
            </a:pPr>
            <a:r>
              <a:rPr lang="en-US" dirty="0" smtClean="0"/>
              <a:t>Its </a:t>
            </a:r>
            <a:r>
              <a:rPr lang="en-US" dirty="0"/>
              <a:t>iterative approach ensures continuous delivery of functional components, allowing for early feedback and improvements</a:t>
            </a:r>
            <a:r>
              <a:rPr lang="en-US" dirty="0" smtClean="0"/>
              <a:t>.</a:t>
            </a:r>
          </a:p>
          <a:p>
            <a:pPr marL="971550" lvl="1" indent="-514350" algn="just">
              <a:buFont typeface="+mj-lt"/>
              <a:buAutoNum type="romanUcPeriod"/>
            </a:pPr>
            <a:r>
              <a:rPr lang="en-US" dirty="0" smtClean="0"/>
              <a:t> </a:t>
            </a:r>
            <a:r>
              <a:rPr lang="en-US" dirty="0"/>
              <a:t>Regular collaboration with stakeholders ensures the solution aligns with business goals, while frequent testing reduces risks and enhances system reliability. </a:t>
            </a:r>
            <a:endParaRPr lang="en-US" dirty="0" smtClean="0"/>
          </a:p>
          <a:p>
            <a:pPr marL="971550" lvl="1" indent="-514350" algn="just">
              <a:buFont typeface="+mj-lt"/>
              <a:buAutoNum type="romanUcPeriod"/>
            </a:pPr>
            <a:r>
              <a:rPr lang="en-US" dirty="0" smtClean="0"/>
              <a:t>Agile's </a:t>
            </a:r>
            <a:r>
              <a:rPr lang="en-US" dirty="0"/>
              <a:t>focus on adaptability and quality makes it a strong choice for developing a complex, user-centric financial application</a:t>
            </a:r>
            <a:r>
              <a:rPr lang="en-US" dirty="0" smtClean="0"/>
              <a:t>.</a:t>
            </a:r>
          </a:p>
          <a:p>
            <a:pPr marL="457200" lvl="1" indent="0">
              <a:buNone/>
            </a:pPr>
            <a:endParaRPr lang="en-US" dirty="0"/>
          </a:p>
          <a:p>
            <a:endParaRPr lang="en-US" dirty="0"/>
          </a:p>
          <a:p>
            <a:endParaRPr lang="en-US" dirty="0"/>
          </a:p>
        </p:txBody>
      </p:sp>
    </p:spTree>
    <p:extLst>
      <p:ext uri="{BB962C8B-B14F-4D97-AF65-F5344CB8AC3E}">
        <p14:creationId xmlns:p14="http://schemas.microsoft.com/office/powerpoint/2010/main" val="3793978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mtClean="0"/>
              <a:t/>
            </a:r>
            <a:br>
              <a:rPr lang="en-US" smtClean="0"/>
            </a:br>
            <a:r>
              <a:rPr lang="en-US" smtClean="0"/>
              <a:t/>
            </a:r>
            <a:br>
              <a:rPr lang="en-US" smtClean="0"/>
            </a:br>
            <a:r>
              <a:rPr lang="en-US" smtClean="0"/>
              <a:t>Functional Requirements</a:t>
            </a:r>
            <a:br>
              <a:rPr lang="en-US" smtClean="0"/>
            </a:br>
            <a:r>
              <a:rPr lang="en-US" smtClean="0"/>
              <a:t> </a:t>
            </a:r>
            <a:br>
              <a:rPr lang="en-US" smtClean="0"/>
            </a:br>
            <a:endParaRPr lang="en-US" dirty="0"/>
          </a:p>
        </p:txBody>
      </p:sp>
      <p:sp>
        <p:nvSpPr>
          <p:cNvPr id="3" name="Content Placeholder 2"/>
          <p:cNvSpPr>
            <a:spLocks noGrp="1"/>
          </p:cNvSpPr>
          <p:nvPr>
            <p:ph idx="1"/>
          </p:nvPr>
        </p:nvSpPr>
        <p:spPr/>
        <p:txBody>
          <a:bodyPr>
            <a:noAutofit/>
          </a:bodyPr>
          <a:lstStyle/>
          <a:p>
            <a:pPr indent="0">
              <a:spcBef>
                <a:spcPts val="0"/>
              </a:spcBef>
              <a:spcAft>
                <a:spcPts val="0"/>
              </a:spcAft>
            </a:pPr>
            <a:r>
              <a:rPr lang="en-US" sz="2000" dirty="0" smtClean="0"/>
              <a:t>Currency conversion between multiple currencies.</a:t>
            </a:r>
          </a:p>
          <a:p>
            <a:pPr indent="0">
              <a:spcBef>
                <a:spcPts val="0"/>
              </a:spcBef>
              <a:spcAft>
                <a:spcPts val="0"/>
              </a:spcAft>
            </a:pPr>
            <a:r>
              <a:rPr lang="en-US" sz="2000" dirty="0" smtClean="0"/>
              <a:t>Real-time updates of exchange rates.</a:t>
            </a:r>
          </a:p>
          <a:p>
            <a:pPr indent="0">
              <a:spcBef>
                <a:spcPts val="0"/>
              </a:spcBef>
              <a:spcAft>
                <a:spcPts val="0"/>
              </a:spcAft>
            </a:pPr>
            <a:r>
              <a:rPr lang="en-US" sz="2000" dirty="0" smtClean="0"/>
              <a:t>Investment and savings calculations based on user inputs</a:t>
            </a:r>
          </a:p>
          <a:p>
            <a:pPr lvl="0" indent="0">
              <a:spcBef>
                <a:spcPts val="0"/>
              </a:spcBef>
              <a:spcAft>
                <a:spcPts val="0"/>
              </a:spcAft>
            </a:pPr>
            <a:r>
              <a:rPr lang="en-US" sz="2000" dirty="0" smtClean="0"/>
              <a:t>Maintain contact information, credentials, and roles for financial advisors and administrative staff.</a:t>
            </a:r>
          </a:p>
          <a:p>
            <a:pPr lvl="0" indent="0">
              <a:spcBef>
                <a:spcPts val="0"/>
              </a:spcBef>
              <a:spcAft>
                <a:spcPts val="0"/>
              </a:spcAft>
            </a:pPr>
            <a:r>
              <a:rPr lang="en-US" sz="2000" dirty="0" smtClean="0"/>
              <a:t>Allow clients to access financial planning tools, view investment portfolios, and generate savings or investment quotes online.</a:t>
            </a:r>
          </a:p>
          <a:p>
            <a:pPr lvl="0" indent="0">
              <a:spcBef>
                <a:spcPts val="0"/>
              </a:spcBef>
              <a:spcAft>
                <a:spcPts val="0"/>
              </a:spcAft>
            </a:pPr>
            <a:r>
              <a:rPr lang="en-US" sz="2000" dirty="0" smtClean="0"/>
              <a:t>Maintain records of all client interactions, including consultations, transaction histories, and saved financial plans.</a:t>
            </a:r>
          </a:p>
          <a:p>
            <a:pPr lvl="0" indent="0">
              <a:spcBef>
                <a:spcPts val="0"/>
              </a:spcBef>
              <a:spcAft>
                <a:spcPts val="0"/>
              </a:spcAft>
            </a:pPr>
            <a:r>
              <a:rPr lang="en-US" sz="2000" dirty="0" smtClean="0"/>
              <a:t>New clients are registered, their personal and financial information is recorded, and unique client identification numbers are assigned and Manage clients' financial plans, including savings, investment options, and personalized portfolio recommendations.</a:t>
            </a:r>
            <a:br>
              <a:rPr lang="en-US" sz="2000" dirty="0" smtClean="0"/>
            </a:br>
            <a:endParaRPr lang="en-US" sz="2000" dirty="0"/>
          </a:p>
        </p:txBody>
      </p:sp>
    </p:spTree>
    <p:extLst>
      <p:ext uri="{BB962C8B-B14F-4D97-AF65-F5344CB8AC3E}">
        <p14:creationId xmlns:p14="http://schemas.microsoft.com/office/powerpoint/2010/main" val="22964499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982132"/>
            <a:ext cx="9601196" cy="1444873"/>
          </a:xfrm>
        </p:spPr>
        <p:txBody>
          <a:bodyPr>
            <a:noAutofit/>
          </a:bodyPr>
          <a:lstStyle/>
          <a:p>
            <a:r>
              <a:rPr lang="en-US" sz="4800" b="1" dirty="0"/>
              <a:t>Non-Functional </a:t>
            </a:r>
            <a:r>
              <a:rPr lang="en-US" sz="4800" b="1" dirty="0" smtClean="0"/>
              <a:t>Requirements</a:t>
            </a:r>
            <a:r>
              <a:rPr lang="en-US" sz="4800" dirty="0"/>
              <a:t/>
            </a:r>
            <a:br>
              <a:rPr lang="en-US" sz="4800" dirty="0"/>
            </a:br>
            <a:endParaRPr lang="en-US" sz="4800" dirty="0"/>
          </a:p>
        </p:txBody>
      </p:sp>
      <p:sp>
        <p:nvSpPr>
          <p:cNvPr id="5" name="Content Placeholder 4"/>
          <p:cNvSpPr>
            <a:spLocks noGrp="1"/>
          </p:cNvSpPr>
          <p:nvPr>
            <p:ph idx="1"/>
          </p:nvPr>
        </p:nvSpPr>
        <p:spPr>
          <a:xfrm>
            <a:off x="1295401" y="2059536"/>
            <a:ext cx="9601196" cy="4153256"/>
          </a:xfrm>
        </p:spPr>
        <p:txBody>
          <a:bodyPr>
            <a:normAutofit/>
          </a:bodyPr>
          <a:lstStyle/>
          <a:p>
            <a:pPr marL="0" indent="0">
              <a:buNone/>
            </a:pPr>
            <a:r>
              <a:rPr lang="en-US" dirty="0"/>
              <a:t/>
            </a:r>
            <a:br>
              <a:rPr lang="en-US" dirty="0"/>
            </a:br>
            <a:r>
              <a:rPr lang="en-US" sz="2800" b="1" dirty="0"/>
              <a:t>Performance:</a:t>
            </a:r>
            <a:r>
              <a:rPr lang="en-US" sz="2800" dirty="0"/>
              <a:t> Fast response time for currency conversion and financial calculations.</a:t>
            </a:r>
            <a:br>
              <a:rPr lang="en-US" sz="2800" dirty="0"/>
            </a:br>
            <a:r>
              <a:rPr lang="en-US" sz="2800" b="1" dirty="0"/>
              <a:t>Security:</a:t>
            </a:r>
            <a:r>
              <a:rPr lang="en-US" sz="2800" dirty="0"/>
              <a:t> Encryption of sensitive data, secure login, compliance with regulations.</a:t>
            </a:r>
            <a:br>
              <a:rPr lang="en-US" sz="2800" dirty="0"/>
            </a:br>
            <a:r>
              <a:rPr lang="en-US" sz="2800" b="1" dirty="0"/>
              <a:t>Scalability:</a:t>
            </a:r>
            <a:r>
              <a:rPr lang="en-US" sz="2800" dirty="0"/>
              <a:t> Support for an increasing number of users and transactions.</a:t>
            </a:r>
            <a:br>
              <a:rPr lang="en-US" sz="2800" dirty="0"/>
            </a:br>
            <a:r>
              <a:rPr lang="en-US" sz="2800" b="1" dirty="0"/>
              <a:t>Usability:</a:t>
            </a:r>
            <a:r>
              <a:rPr lang="en-US" sz="2800" dirty="0"/>
              <a:t> Simple, intuitive user interface with minimal learning curve</a:t>
            </a:r>
          </a:p>
        </p:txBody>
      </p:sp>
    </p:spTree>
    <p:extLst>
      <p:ext uri="{BB962C8B-B14F-4D97-AF65-F5344CB8AC3E}">
        <p14:creationId xmlns:p14="http://schemas.microsoft.com/office/powerpoint/2010/main" val="4438673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087439578"/>
              </p:ext>
            </p:extLst>
          </p:nvPr>
        </p:nvGraphicFramePr>
        <p:xfrm>
          <a:off x="820396" y="1647912"/>
          <a:ext cx="10579693" cy="4491452"/>
        </p:xfrm>
        <a:graphic>
          <a:graphicData uri="http://schemas.openxmlformats.org/drawingml/2006/table">
            <a:tbl>
              <a:tblPr firstRow="1" firstCol="1" bandRow="1">
                <a:tableStyleId>{5C22544A-7EE6-4342-B048-85BDC9FD1C3A}</a:tableStyleId>
              </a:tblPr>
              <a:tblGrid>
                <a:gridCol w="2565274"/>
                <a:gridCol w="8014419"/>
              </a:tblGrid>
              <a:tr h="413448">
                <a:tc>
                  <a:txBody>
                    <a:bodyPr/>
                    <a:lstStyle/>
                    <a:p>
                      <a:pPr marL="0" marR="0" indent="0" algn="ctr">
                        <a:lnSpc>
                          <a:spcPct val="103000"/>
                        </a:lnSpc>
                        <a:spcBef>
                          <a:spcPts val="0"/>
                        </a:spcBef>
                        <a:spcAft>
                          <a:spcPts val="0"/>
                        </a:spcAft>
                      </a:pPr>
                      <a:r>
                        <a:rPr lang="en-US" sz="2200" dirty="0">
                          <a:solidFill>
                            <a:schemeClr val="tx1"/>
                          </a:solidFill>
                          <a:effectLst/>
                        </a:rPr>
                        <a:t>Stakeholder</a:t>
                      </a:r>
                      <a:endParaRPr lang="en-US" sz="2200" dirty="0">
                        <a:solidFill>
                          <a:schemeClr val="tx1"/>
                        </a:solidFill>
                        <a:effectLst/>
                        <a:latin typeface="Calibri" panose="020F0502020204030204" pitchFamily="34" charset="0"/>
                        <a:ea typeface="Calibri" panose="020F0502020204030204" pitchFamily="34" charset="0"/>
                        <a:cs typeface="Latha"/>
                      </a:endParaRPr>
                    </a:p>
                  </a:txBody>
                  <a:tcPr marL="9525" marR="9525" marT="9525" marB="9525" anchor="ctr"/>
                </a:tc>
                <a:tc>
                  <a:txBody>
                    <a:bodyPr/>
                    <a:lstStyle/>
                    <a:p>
                      <a:pPr marL="0" marR="0" indent="0" algn="ctr">
                        <a:lnSpc>
                          <a:spcPct val="103000"/>
                        </a:lnSpc>
                        <a:spcBef>
                          <a:spcPts val="0"/>
                        </a:spcBef>
                        <a:spcAft>
                          <a:spcPts val="0"/>
                        </a:spcAft>
                      </a:pPr>
                      <a:r>
                        <a:rPr lang="en-US" sz="2200" dirty="0">
                          <a:solidFill>
                            <a:schemeClr val="tx1"/>
                          </a:solidFill>
                          <a:effectLst/>
                        </a:rPr>
                        <a:t>Key Requirements</a:t>
                      </a:r>
                      <a:endParaRPr lang="en-US" sz="2200" dirty="0">
                        <a:solidFill>
                          <a:schemeClr val="tx1"/>
                        </a:solidFill>
                        <a:effectLst/>
                        <a:latin typeface="Calibri" panose="020F0502020204030204" pitchFamily="34" charset="0"/>
                        <a:ea typeface="Calibri" panose="020F0502020204030204" pitchFamily="34" charset="0"/>
                        <a:cs typeface="Latha"/>
                      </a:endParaRPr>
                    </a:p>
                  </a:txBody>
                  <a:tcPr marL="9525" marR="9525" marT="9525" marB="9525" anchor="ctr"/>
                </a:tc>
              </a:tr>
              <a:tr h="797863">
                <a:tc>
                  <a:txBody>
                    <a:bodyPr/>
                    <a:lstStyle/>
                    <a:p>
                      <a:pPr marL="0" marR="0" indent="0">
                        <a:lnSpc>
                          <a:spcPct val="100000"/>
                        </a:lnSpc>
                        <a:spcBef>
                          <a:spcPts val="0"/>
                        </a:spcBef>
                        <a:spcAft>
                          <a:spcPts val="0"/>
                        </a:spcAft>
                      </a:pPr>
                      <a:r>
                        <a:rPr lang="en-US" sz="2200" dirty="0">
                          <a:solidFill>
                            <a:schemeClr val="tx1"/>
                          </a:solidFill>
                          <a:effectLst/>
                        </a:rPr>
                        <a:t>Clients (End Users)</a:t>
                      </a:r>
                      <a:endParaRPr lang="en-US" sz="2200" dirty="0">
                        <a:solidFill>
                          <a:schemeClr val="tx1"/>
                        </a:solidFill>
                        <a:effectLst/>
                        <a:latin typeface="Calibri" panose="020F0502020204030204" pitchFamily="34" charset="0"/>
                        <a:ea typeface="Calibri" panose="020F0502020204030204" pitchFamily="34" charset="0"/>
                        <a:cs typeface="Latha"/>
                      </a:endParaRPr>
                    </a:p>
                  </a:txBody>
                  <a:tcPr marL="9525" marR="9525" marT="9525" marB="9525" anchor="ctr"/>
                </a:tc>
                <a:tc>
                  <a:txBody>
                    <a:bodyPr/>
                    <a:lstStyle/>
                    <a:p>
                      <a:pPr marL="0" marR="0" indent="0">
                        <a:lnSpc>
                          <a:spcPct val="100000"/>
                        </a:lnSpc>
                        <a:spcBef>
                          <a:spcPts val="0"/>
                        </a:spcBef>
                        <a:spcAft>
                          <a:spcPts val="0"/>
                        </a:spcAft>
                      </a:pPr>
                      <a:r>
                        <a:rPr lang="en-US" sz="2200" dirty="0">
                          <a:solidFill>
                            <a:schemeClr val="tx1"/>
                          </a:solidFill>
                          <a:effectLst/>
                        </a:rPr>
                        <a:t>User-friendly interface, real-time currency conversion, data security, error handling, transaction history.</a:t>
                      </a:r>
                      <a:endParaRPr lang="en-US" sz="2200" dirty="0">
                        <a:solidFill>
                          <a:schemeClr val="tx1"/>
                        </a:solidFill>
                        <a:effectLst/>
                        <a:latin typeface="Calibri" panose="020F0502020204030204" pitchFamily="34" charset="0"/>
                        <a:ea typeface="Calibri" panose="020F0502020204030204" pitchFamily="34" charset="0"/>
                        <a:cs typeface="Latha"/>
                      </a:endParaRPr>
                    </a:p>
                  </a:txBody>
                  <a:tcPr marL="9525" marR="9525" marT="9525" marB="9525" anchor="ctr"/>
                </a:tc>
              </a:tr>
              <a:tr h="413448">
                <a:tc>
                  <a:txBody>
                    <a:bodyPr/>
                    <a:lstStyle/>
                    <a:p>
                      <a:pPr marL="0" marR="0" indent="0">
                        <a:lnSpc>
                          <a:spcPct val="100000"/>
                        </a:lnSpc>
                        <a:spcBef>
                          <a:spcPts val="0"/>
                        </a:spcBef>
                        <a:spcAft>
                          <a:spcPts val="0"/>
                        </a:spcAft>
                      </a:pPr>
                      <a:r>
                        <a:rPr lang="en-US" sz="2200" dirty="0">
                          <a:solidFill>
                            <a:schemeClr val="tx1"/>
                          </a:solidFill>
                          <a:effectLst/>
                        </a:rPr>
                        <a:t>Company Management</a:t>
                      </a:r>
                      <a:endParaRPr lang="en-US" sz="2200" dirty="0">
                        <a:solidFill>
                          <a:schemeClr val="tx1"/>
                        </a:solidFill>
                        <a:effectLst/>
                        <a:latin typeface="Calibri" panose="020F0502020204030204" pitchFamily="34" charset="0"/>
                        <a:ea typeface="Calibri" panose="020F0502020204030204" pitchFamily="34" charset="0"/>
                        <a:cs typeface="Latha"/>
                      </a:endParaRPr>
                    </a:p>
                  </a:txBody>
                  <a:tcPr marL="9525" marR="9525" marT="9525" marB="9525" anchor="ctr"/>
                </a:tc>
                <a:tc>
                  <a:txBody>
                    <a:bodyPr/>
                    <a:lstStyle/>
                    <a:p>
                      <a:pPr marL="0" marR="0" indent="0">
                        <a:lnSpc>
                          <a:spcPct val="100000"/>
                        </a:lnSpc>
                        <a:spcBef>
                          <a:spcPts val="0"/>
                        </a:spcBef>
                        <a:spcAft>
                          <a:spcPts val="0"/>
                        </a:spcAft>
                      </a:pPr>
                      <a:r>
                        <a:rPr lang="en-US" sz="2200" dirty="0">
                          <a:solidFill>
                            <a:schemeClr val="tx1"/>
                          </a:solidFill>
                          <a:effectLst/>
                        </a:rPr>
                        <a:t>Scalability, secure data storage, regulatory compliance, reporting, cost control.</a:t>
                      </a:r>
                      <a:endParaRPr lang="en-US" sz="2200" dirty="0">
                        <a:solidFill>
                          <a:schemeClr val="tx1"/>
                        </a:solidFill>
                        <a:effectLst/>
                        <a:latin typeface="Calibri" panose="020F0502020204030204" pitchFamily="34" charset="0"/>
                        <a:ea typeface="Calibri" panose="020F0502020204030204" pitchFamily="34" charset="0"/>
                        <a:cs typeface="Latha"/>
                      </a:endParaRPr>
                    </a:p>
                  </a:txBody>
                  <a:tcPr marL="9525" marR="9525" marT="9525" marB="9525" anchor="ctr"/>
                </a:tc>
              </a:tr>
              <a:tr h="797863">
                <a:tc>
                  <a:txBody>
                    <a:bodyPr/>
                    <a:lstStyle/>
                    <a:p>
                      <a:pPr marL="0" marR="0" indent="0">
                        <a:lnSpc>
                          <a:spcPct val="100000"/>
                        </a:lnSpc>
                        <a:spcBef>
                          <a:spcPts val="0"/>
                        </a:spcBef>
                        <a:spcAft>
                          <a:spcPts val="0"/>
                        </a:spcAft>
                      </a:pPr>
                      <a:r>
                        <a:rPr lang="en-US" sz="2200" dirty="0">
                          <a:solidFill>
                            <a:schemeClr val="tx1"/>
                          </a:solidFill>
                          <a:effectLst/>
                        </a:rPr>
                        <a:t>Development Team</a:t>
                      </a:r>
                      <a:endParaRPr lang="en-US" sz="2200" dirty="0">
                        <a:solidFill>
                          <a:schemeClr val="tx1"/>
                        </a:solidFill>
                        <a:effectLst/>
                        <a:latin typeface="Calibri" panose="020F0502020204030204" pitchFamily="34" charset="0"/>
                        <a:ea typeface="Calibri" panose="020F0502020204030204" pitchFamily="34" charset="0"/>
                        <a:cs typeface="Latha"/>
                      </a:endParaRPr>
                    </a:p>
                  </a:txBody>
                  <a:tcPr marL="9525" marR="9525" marT="9525" marB="9525" anchor="ctr"/>
                </a:tc>
                <a:tc>
                  <a:txBody>
                    <a:bodyPr/>
                    <a:lstStyle/>
                    <a:p>
                      <a:pPr marL="0" marR="0" indent="0">
                        <a:lnSpc>
                          <a:spcPct val="100000"/>
                        </a:lnSpc>
                        <a:spcBef>
                          <a:spcPts val="0"/>
                        </a:spcBef>
                        <a:spcAft>
                          <a:spcPts val="0"/>
                        </a:spcAft>
                      </a:pPr>
                      <a:r>
                        <a:rPr lang="en-US" sz="2200" dirty="0">
                          <a:solidFill>
                            <a:schemeClr val="tx1"/>
                          </a:solidFill>
                          <a:effectLst/>
                        </a:rPr>
                        <a:t>Clear requirements, access to tools, testing environment, documentation, collaboration.</a:t>
                      </a:r>
                      <a:endParaRPr lang="en-US" sz="2200" dirty="0">
                        <a:solidFill>
                          <a:schemeClr val="tx1"/>
                        </a:solidFill>
                        <a:effectLst/>
                        <a:latin typeface="Calibri" panose="020F0502020204030204" pitchFamily="34" charset="0"/>
                        <a:ea typeface="Calibri" panose="020F0502020204030204" pitchFamily="34" charset="0"/>
                        <a:cs typeface="Latha"/>
                      </a:endParaRPr>
                    </a:p>
                  </a:txBody>
                  <a:tcPr marL="9525" marR="9525" marT="9525" marB="9525" anchor="ctr"/>
                </a:tc>
              </a:tr>
              <a:tr h="413448">
                <a:tc>
                  <a:txBody>
                    <a:bodyPr/>
                    <a:lstStyle/>
                    <a:p>
                      <a:pPr marL="0" marR="0" indent="0">
                        <a:lnSpc>
                          <a:spcPct val="100000"/>
                        </a:lnSpc>
                        <a:spcBef>
                          <a:spcPts val="0"/>
                        </a:spcBef>
                        <a:spcAft>
                          <a:spcPts val="0"/>
                        </a:spcAft>
                      </a:pPr>
                      <a:r>
                        <a:rPr lang="en-US" sz="2200">
                          <a:solidFill>
                            <a:schemeClr val="tx1"/>
                          </a:solidFill>
                          <a:effectLst/>
                        </a:rPr>
                        <a:t>Regulatory Bodies</a:t>
                      </a:r>
                      <a:endParaRPr lang="en-US" sz="2200">
                        <a:solidFill>
                          <a:schemeClr val="tx1"/>
                        </a:solidFill>
                        <a:effectLst/>
                        <a:latin typeface="Calibri" panose="020F0502020204030204" pitchFamily="34" charset="0"/>
                        <a:ea typeface="Calibri" panose="020F0502020204030204" pitchFamily="34" charset="0"/>
                        <a:cs typeface="Latha"/>
                      </a:endParaRPr>
                    </a:p>
                  </a:txBody>
                  <a:tcPr marL="9525" marR="9525" marT="9525" marB="9525" anchor="ctr"/>
                </a:tc>
                <a:tc>
                  <a:txBody>
                    <a:bodyPr/>
                    <a:lstStyle/>
                    <a:p>
                      <a:pPr marL="0" marR="0" indent="0">
                        <a:lnSpc>
                          <a:spcPct val="100000"/>
                        </a:lnSpc>
                        <a:spcBef>
                          <a:spcPts val="0"/>
                        </a:spcBef>
                        <a:spcAft>
                          <a:spcPts val="0"/>
                        </a:spcAft>
                      </a:pPr>
                      <a:r>
                        <a:rPr lang="en-US" sz="2200" dirty="0">
                          <a:solidFill>
                            <a:schemeClr val="tx1"/>
                          </a:solidFill>
                          <a:effectLst/>
                        </a:rPr>
                        <a:t>Compliance with regulations, data privacy, auditing and reporting capabilities.</a:t>
                      </a:r>
                      <a:endParaRPr lang="en-US" sz="2200" dirty="0">
                        <a:solidFill>
                          <a:schemeClr val="tx1"/>
                        </a:solidFill>
                        <a:effectLst/>
                        <a:latin typeface="Calibri" panose="020F0502020204030204" pitchFamily="34" charset="0"/>
                        <a:ea typeface="Calibri" panose="020F0502020204030204" pitchFamily="34" charset="0"/>
                        <a:cs typeface="Latha"/>
                      </a:endParaRPr>
                    </a:p>
                  </a:txBody>
                  <a:tcPr marL="9525" marR="9525" marT="9525" marB="9525" anchor="ctr"/>
                </a:tc>
              </a:tr>
              <a:tr h="413448">
                <a:tc>
                  <a:txBody>
                    <a:bodyPr/>
                    <a:lstStyle/>
                    <a:p>
                      <a:pPr marL="0" marR="0" indent="0">
                        <a:lnSpc>
                          <a:spcPct val="100000"/>
                        </a:lnSpc>
                        <a:spcBef>
                          <a:spcPts val="0"/>
                        </a:spcBef>
                        <a:spcAft>
                          <a:spcPts val="0"/>
                        </a:spcAft>
                      </a:pPr>
                      <a:r>
                        <a:rPr lang="en-US" sz="2200">
                          <a:solidFill>
                            <a:schemeClr val="tx1"/>
                          </a:solidFill>
                          <a:effectLst/>
                        </a:rPr>
                        <a:t>IT Support</a:t>
                      </a:r>
                      <a:endParaRPr lang="en-US" sz="2200">
                        <a:solidFill>
                          <a:schemeClr val="tx1"/>
                        </a:solidFill>
                        <a:effectLst/>
                        <a:latin typeface="Calibri" panose="020F0502020204030204" pitchFamily="34" charset="0"/>
                        <a:ea typeface="Calibri" panose="020F0502020204030204" pitchFamily="34" charset="0"/>
                        <a:cs typeface="Latha"/>
                      </a:endParaRPr>
                    </a:p>
                  </a:txBody>
                  <a:tcPr marL="9525" marR="9525" marT="9525" marB="9525" anchor="ctr"/>
                </a:tc>
                <a:tc>
                  <a:txBody>
                    <a:bodyPr/>
                    <a:lstStyle/>
                    <a:p>
                      <a:pPr marL="0" marR="0" indent="0">
                        <a:lnSpc>
                          <a:spcPct val="100000"/>
                        </a:lnSpc>
                        <a:spcBef>
                          <a:spcPts val="0"/>
                        </a:spcBef>
                        <a:spcAft>
                          <a:spcPts val="0"/>
                        </a:spcAft>
                      </a:pPr>
                      <a:r>
                        <a:rPr lang="en-US" sz="2200" dirty="0">
                          <a:solidFill>
                            <a:schemeClr val="tx1"/>
                          </a:solidFill>
                          <a:effectLst/>
                        </a:rPr>
                        <a:t>System maintenance, performance monitoring, backup &amp; disaster recovery.</a:t>
                      </a:r>
                      <a:endParaRPr lang="en-US" sz="2200" dirty="0">
                        <a:solidFill>
                          <a:schemeClr val="tx1"/>
                        </a:solidFill>
                        <a:effectLst/>
                        <a:latin typeface="Calibri" panose="020F0502020204030204" pitchFamily="34" charset="0"/>
                        <a:ea typeface="Calibri" panose="020F0502020204030204" pitchFamily="34" charset="0"/>
                        <a:cs typeface="Latha"/>
                      </a:endParaRPr>
                    </a:p>
                  </a:txBody>
                  <a:tcPr marL="9525" marR="9525" marT="9525" marB="9525" anchor="ctr"/>
                </a:tc>
              </a:tr>
              <a:tr h="413448">
                <a:tc>
                  <a:txBody>
                    <a:bodyPr/>
                    <a:lstStyle/>
                    <a:p>
                      <a:pPr marL="0" marR="0" indent="0">
                        <a:lnSpc>
                          <a:spcPct val="100000"/>
                        </a:lnSpc>
                        <a:spcBef>
                          <a:spcPts val="0"/>
                        </a:spcBef>
                        <a:spcAft>
                          <a:spcPts val="0"/>
                        </a:spcAft>
                      </a:pPr>
                      <a:r>
                        <a:rPr lang="en-US" sz="2200">
                          <a:solidFill>
                            <a:schemeClr val="tx1"/>
                          </a:solidFill>
                          <a:effectLst/>
                        </a:rPr>
                        <a:t>Marketing &amp; Sales</a:t>
                      </a:r>
                      <a:endParaRPr lang="en-US" sz="2200">
                        <a:solidFill>
                          <a:schemeClr val="tx1"/>
                        </a:solidFill>
                        <a:effectLst/>
                        <a:latin typeface="Calibri" panose="020F0502020204030204" pitchFamily="34" charset="0"/>
                        <a:ea typeface="Calibri" panose="020F0502020204030204" pitchFamily="34" charset="0"/>
                        <a:cs typeface="Latha"/>
                      </a:endParaRPr>
                    </a:p>
                  </a:txBody>
                  <a:tcPr marL="9525" marR="9525" marT="9525" marB="9525" anchor="ctr"/>
                </a:tc>
                <a:tc>
                  <a:txBody>
                    <a:bodyPr/>
                    <a:lstStyle/>
                    <a:p>
                      <a:pPr marL="0" marR="0" indent="0">
                        <a:lnSpc>
                          <a:spcPct val="100000"/>
                        </a:lnSpc>
                        <a:spcBef>
                          <a:spcPts val="0"/>
                        </a:spcBef>
                        <a:spcAft>
                          <a:spcPts val="0"/>
                        </a:spcAft>
                      </a:pPr>
                      <a:r>
                        <a:rPr lang="en-US" sz="2200" dirty="0">
                          <a:solidFill>
                            <a:schemeClr val="tx1"/>
                          </a:solidFill>
                          <a:effectLst/>
                        </a:rPr>
                        <a:t>Customer insights, user acquisition, customer support integration.</a:t>
                      </a:r>
                      <a:endParaRPr lang="en-US" sz="2200" dirty="0">
                        <a:solidFill>
                          <a:schemeClr val="tx1"/>
                        </a:solidFill>
                        <a:effectLst/>
                        <a:latin typeface="Calibri" panose="020F0502020204030204" pitchFamily="34" charset="0"/>
                        <a:ea typeface="Calibri" panose="020F0502020204030204" pitchFamily="34" charset="0"/>
                        <a:cs typeface="Latha"/>
                      </a:endParaRPr>
                    </a:p>
                  </a:txBody>
                  <a:tcPr marL="9525" marR="9525" marT="9525" marB="9525" anchor="ctr"/>
                </a:tc>
              </a:tr>
            </a:tbl>
          </a:graphicData>
        </a:graphic>
      </p:graphicFrame>
      <p:sp>
        <p:nvSpPr>
          <p:cNvPr id="5" name="Rectangle 1"/>
          <p:cNvSpPr>
            <a:spLocks noGrp="1" noChangeArrowheads="1"/>
          </p:cNvSpPr>
          <p:nvPr>
            <p:ph type="title"/>
          </p:nvPr>
        </p:nvSpPr>
        <p:spPr bwMode="auto">
          <a:xfrm>
            <a:off x="1389406" y="816915"/>
            <a:ext cx="927574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en-US" sz="4800" b="1" dirty="0">
                <a:ln>
                  <a:noFill/>
                </a:ln>
                <a:latin typeface="+mj-lt"/>
                <a:ea typeface="Times New Roman" panose="02020603050405020304" pitchFamily="18" charset="0"/>
              </a:rPr>
              <a:t>Stakeholder Requirements</a:t>
            </a:r>
            <a:endParaRPr kumimoji="0" lang="en-US" sz="4800" b="0" i="0" u="none" strike="noStrike" cap="none" normalizeH="0" baseline="0" dirty="0" smtClean="0">
              <a:ln>
                <a:noFill/>
              </a:ln>
              <a:solidFill>
                <a:schemeClr val="tx1"/>
              </a:solidFill>
              <a:effectLst/>
              <a:latin typeface="+mj-lt"/>
            </a:endParaRPr>
          </a:p>
        </p:txBody>
      </p:sp>
    </p:spTree>
    <p:extLst>
      <p:ext uri="{BB962C8B-B14F-4D97-AF65-F5344CB8AC3E}">
        <p14:creationId xmlns:p14="http://schemas.microsoft.com/office/powerpoint/2010/main" val="441897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800" b="1" dirty="0"/>
              <a:t>Timeline and </a:t>
            </a:r>
            <a:r>
              <a:rPr lang="en-US" sz="4800" b="1" dirty="0" smtClean="0"/>
              <a:t>Milestones</a:t>
            </a:r>
            <a:endParaRPr lang="en-US" sz="4800" dirty="0"/>
          </a:p>
        </p:txBody>
      </p:sp>
      <p:sp>
        <p:nvSpPr>
          <p:cNvPr id="3" name="Content Placeholder 2"/>
          <p:cNvSpPr>
            <a:spLocks noGrp="1"/>
          </p:cNvSpPr>
          <p:nvPr>
            <p:ph idx="1"/>
          </p:nvPr>
        </p:nvSpPr>
        <p:spPr/>
        <p:txBody>
          <a:bodyPr>
            <a:normAutofit lnSpcReduction="10000"/>
          </a:bodyPr>
          <a:lstStyle/>
          <a:p>
            <a:pPr lvl="1">
              <a:buFont typeface="Arial" panose="020B0604020202020204" pitchFamily="34" charset="0"/>
              <a:buChar char="•"/>
            </a:pPr>
            <a:r>
              <a:rPr lang="en-US" sz="2800" b="1" dirty="0" smtClean="0"/>
              <a:t>Development </a:t>
            </a:r>
            <a:r>
              <a:rPr lang="en-US" sz="2800" b="1" dirty="0"/>
              <a:t>Phases</a:t>
            </a:r>
            <a:r>
              <a:rPr lang="en-US" sz="2800" dirty="0"/>
              <a:t>:</a:t>
            </a:r>
          </a:p>
          <a:p>
            <a:pPr lvl="2"/>
            <a:r>
              <a:rPr lang="en-US" sz="2400" b="1" dirty="0"/>
              <a:t>Phase 1</a:t>
            </a:r>
            <a:r>
              <a:rPr lang="en-US" sz="2400" dirty="0"/>
              <a:t>: Requirements gathering and system design (2 weeks).</a:t>
            </a:r>
          </a:p>
          <a:p>
            <a:pPr lvl="2"/>
            <a:r>
              <a:rPr lang="en-US" sz="2400" b="1" dirty="0"/>
              <a:t>Phase 2</a:t>
            </a:r>
            <a:r>
              <a:rPr lang="en-US" sz="2400" dirty="0"/>
              <a:t>: Initial development of currency conversion and investment modules (4 weeks).</a:t>
            </a:r>
          </a:p>
          <a:p>
            <a:pPr lvl="2"/>
            <a:r>
              <a:rPr lang="en-US" sz="2400" b="1" dirty="0"/>
              <a:t>Phase 3</a:t>
            </a:r>
            <a:r>
              <a:rPr lang="en-US" sz="2400" dirty="0"/>
              <a:t>: Integration and testing (3 weeks).</a:t>
            </a:r>
          </a:p>
          <a:p>
            <a:pPr lvl="2"/>
            <a:r>
              <a:rPr lang="en-US" sz="2400" b="1" dirty="0"/>
              <a:t>Phase 4</a:t>
            </a:r>
            <a:r>
              <a:rPr lang="en-US" sz="2400" dirty="0"/>
              <a:t>: Deployment and feedback collection (2 weeks).</a:t>
            </a:r>
          </a:p>
          <a:p>
            <a:pPr lvl="2"/>
            <a:r>
              <a:rPr lang="en-US" sz="2400" b="1" dirty="0"/>
              <a:t>Phase 5</a:t>
            </a:r>
            <a:r>
              <a:rPr lang="en-US" sz="2400" dirty="0"/>
              <a:t>: Ongoing maintenance and updates</a:t>
            </a:r>
            <a:r>
              <a:rPr lang="en-US" dirty="0"/>
              <a:t>.</a:t>
            </a:r>
          </a:p>
          <a:p>
            <a:pPr marL="0" indent="0">
              <a:buNone/>
            </a:pPr>
            <a:endParaRPr lang="en-US" dirty="0"/>
          </a:p>
        </p:txBody>
      </p:sp>
    </p:spTree>
    <p:extLst>
      <p:ext uri="{BB962C8B-B14F-4D97-AF65-F5344CB8AC3E}">
        <p14:creationId xmlns:p14="http://schemas.microsoft.com/office/powerpoint/2010/main" val="679089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ea typeface="Times New Roman" panose="02020603050405020304" pitchFamily="18" charset="0"/>
              </a:rPr>
              <a:t>Potential </a:t>
            </a:r>
            <a:r>
              <a:rPr lang="en-US" dirty="0">
                <a:latin typeface="Times New Roman" panose="02020603050405020304" pitchFamily="18" charset="0"/>
                <a:ea typeface="Times New Roman" panose="02020603050405020304" pitchFamily="18" charset="0"/>
              </a:rPr>
              <a:t>risks associated with system </a:t>
            </a:r>
            <a:endParaRPr lang="en-US" dirty="0"/>
          </a:p>
        </p:txBody>
      </p:sp>
      <p:sp>
        <p:nvSpPr>
          <p:cNvPr id="3" name="Content Placeholder 2"/>
          <p:cNvSpPr>
            <a:spLocks noGrp="1"/>
          </p:cNvSpPr>
          <p:nvPr>
            <p:ph idx="1"/>
          </p:nvPr>
        </p:nvSpPr>
        <p:spPr/>
        <p:txBody>
          <a:bodyPr>
            <a:noAutofit/>
          </a:bodyPr>
          <a:lstStyle/>
          <a:p>
            <a:pPr lvl="1" indent="0">
              <a:spcBef>
                <a:spcPts val="0"/>
              </a:spcBef>
              <a:spcAft>
                <a:spcPts val="0"/>
              </a:spcAft>
              <a:buFont typeface="Arial" panose="020B0604020202020204" pitchFamily="34" charset="0"/>
              <a:buChar char="•"/>
            </a:pPr>
            <a:r>
              <a:rPr lang="en-US" sz="2400" b="1" dirty="0" smtClean="0"/>
              <a:t>Identified </a:t>
            </a:r>
            <a:r>
              <a:rPr lang="en-US" sz="2400" b="1" dirty="0"/>
              <a:t>Risks</a:t>
            </a:r>
            <a:r>
              <a:rPr lang="en-US" sz="2400" dirty="0"/>
              <a:t>:</a:t>
            </a:r>
          </a:p>
          <a:p>
            <a:pPr lvl="2" indent="0">
              <a:spcBef>
                <a:spcPts val="0"/>
              </a:spcBef>
              <a:spcAft>
                <a:spcPts val="0"/>
              </a:spcAft>
            </a:pPr>
            <a:r>
              <a:rPr lang="en-US" sz="2400" b="1" dirty="0"/>
              <a:t>Data Security</a:t>
            </a:r>
            <a:r>
              <a:rPr lang="en-US" sz="2400" dirty="0"/>
              <a:t>: Protecting sensitive client information.</a:t>
            </a:r>
          </a:p>
          <a:p>
            <a:pPr lvl="2" indent="0">
              <a:spcBef>
                <a:spcPts val="0"/>
              </a:spcBef>
              <a:spcAft>
                <a:spcPts val="0"/>
              </a:spcAft>
            </a:pPr>
            <a:r>
              <a:rPr lang="en-US" sz="2400" b="1" dirty="0"/>
              <a:t>Integration Issues</a:t>
            </a:r>
            <a:r>
              <a:rPr lang="en-US" sz="2400" dirty="0"/>
              <a:t>: Ensuring seamless data flow between modules (currency conversion, investment management).</a:t>
            </a:r>
          </a:p>
          <a:p>
            <a:pPr lvl="2" indent="0">
              <a:spcBef>
                <a:spcPts val="0"/>
              </a:spcBef>
              <a:spcAft>
                <a:spcPts val="0"/>
              </a:spcAft>
            </a:pPr>
            <a:r>
              <a:rPr lang="en-US" sz="2400" b="1" dirty="0"/>
              <a:t>Performance</a:t>
            </a:r>
            <a:r>
              <a:rPr lang="en-US" sz="2400" dirty="0"/>
              <a:t>: Ensuring the system can handle high volumes of real-time data without crashes or delays.</a:t>
            </a:r>
          </a:p>
          <a:p>
            <a:pPr lvl="1" indent="0">
              <a:spcBef>
                <a:spcPts val="0"/>
              </a:spcBef>
              <a:spcAft>
                <a:spcPts val="0"/>
              </a:spcAft>
            </a:pPr>
            <a:r>
              <a:rPr lang="en-US" sz="2400" b="1" dirty="0"/>
              <a:t>Risk Mitigation</a:t>
            </a:r>
            <a:r>
              <a:rPr lang="en-US" sz="2400" dirty="0"/>
              <a:t>:</a:t>
            </a:r>
          </a:p>
          <a:p>
            <a:pPr lvl="2" indent="0">
              <a:spcBef>
                <a:spcPts val="0"/>
              </a:spcBef>
              <a:spcAft>
                <a:spcPts val="0"/>
              </a:spcAft>
            </a:pPr>
            <a:r>
              <a:rPr lang="en-US" sz="2400" dirty="0"/>
              <a:t>Regular security audits and encryption of user data.</a:t>
            </a:r>
          </a:p>
          <a:p>
            <a:pPr lvl="2" indent="0">
              <a:spcBef>
                <a:spcPts val="0"/>
              </a:spcBef>
              <a:spcAft>
                <a:spcPts val="0"/>
              </a:spcAft>
            </a:pPr>
            <a:r>
              <a:rPr lang="en-US" sz="2400" dirty="0"/>
              <a:t>Thorough testing of integrations.</a:t>
            </a:r>
          </a:p>
          <a:p>
            <a:pPr lvl="2" indent="0">
              <a:spcBef>
                <a:spcPts val="0"/>
              </a:spcBef>
              <a:spcAft>
                <a:spcPts val="0"/>
              </a:spcAft>
            </a:pPr>
            <a:r>
              <a:rPr lang="en-US" sz="2400" dirty="0"/>
              <a:t>Load testing and performance optimization</a:t>
            </a:r>
          </a:p>
        </p:txBody>
      </p:sp>
    </p:spTree>
    <p:extLst>
      <p:ext uri="{BB962C8B-B14F-4D97-AF65-F5344CB8AC3E}">
        <p14:creationId xmlns:p14="http://schemas.microsoft.com/office/powerpoint/2010/main" val="348067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982132"/>
            <a:ext cx="9601196" cy="1325231"/>
          </a:xfrm>
        </p:spPr>
        <p:txBody>
          <a:bodyPr>
            <a:normAutofit fontScale="90000"/>
          </a:bodyPr>
          <a:lstStyle/>
          <a:p>
            <a:r>
              <a:rPr lang="en-US" b="1" dirty="0" smtClean="0"/>
              <a:t>Development </a:t>
            </a:r>
            <a:r>
              <a:rPr lang="en-US" b="1" dirty="0"/>
              <a:t>Tools</a:t>
            </a:r>
            <a:r>
              <a:rPr lang="en-US" dirty="0"/>
              <a:t/>
            </a:r>
            <a:br>
              <a:rPr lang="en-US" dirty="0"/>
            </a:br>
            <a:endParaRPr lang="en-US" dirty="0"/>
          </a:p>
        </p:txBody>
      </p:sp>
      <p:sp>
        <p:nvSpPr>
          <p:cNvPr id="3" name="Content Placeholder 2"/>
          <p:cNvSpPr>
            <a:spLocks noGrp="1"/>
          </p:cNvSpPr>
          <p:nvPr>
            <p:ph idx="1"/>
          </p:nvPr>
        </p:nvSpPr>
        <p:spPr>
          <a:xfrm>
            <a:off x="1295401" y="2556931"/>
            <a:ext cx="9601196" cy="3630223"/>
          </a:xfrm>
        </p:spPr>
        <p:txBody>
          <a:bodyPr>
            <a:normAutofit fontScale="25000" lnSpcReduction="20000"/>
          </a:bodyPr>
          <a:lstStyle/>
          <a:p>
            <a:pPr lvl="0">
              <a:spcBef>
                <a:spcPts val="0"/>
              </a:spcBef>
              <a:spcAft>
                <a:spcPts val="0"/>
              </a:spcAft>
            </a:pPr>
            <a:r>
              <a:rPr lang="en-US" sz="7200" b="1" dirty="0" smtClean="0"/>
              <a:t>Visual </a:t>
            </a:r>
            <a:r>
              <a:rPr lang="en-US" sz="7200" b="1" dirty="0"/>
              <a:t>Studio (for IDE):</a:t>
            </a:r>
            <a:endParaRPr lang="en-US" sz="7200" dirty="0"/>
          </a:p>
          <a:p>
            <a:pPr lvl="1" algn="just">
              <a:spcBef>
                <a:spcPts val="0"/>
              </a:spcBef>
              <a:spcAft>
                <a:spcPts val="0"/>
              </a:spcAft>
            </a:pPr>
            <a:r>
              <a:rPr lang="en-US" sz="7200" b="1" dirty="0"/>
              <a:t>Reason for Selection:</a:t>
            </a:r>
            <a:r>
              <a:rPr lang="en-US" sz="7200" dirty="0"/>
              <a:t> Visual Studio supports various programming languages and offers built-in version control, which is essential for managing code in an Agile development environment.</a:t>
            </a:r>
          </a:p>
          <a:p>
            <a:pPr lvl="1" algn="just">
              <a:spcBef>
                <a:spcPts val="0"/>
              </a:spcBef>
              <a:spcAft>
                <a:spcPts val="0"/>
              </a:spcAft>
            </a:pPr>
            <a:r>
              <a:rPr lang="en-US" sz="7200" dirty="0" smtClean="0"/>
              <a:t>It </a:t>
            </a:r>
            <a:r>
              <a:rPr lang="en-US" sz="7200" dirty="0"/>
              <a:t>allows for seamless debugging and integration with </a:t>
            </a:r>
            <a:r>
              <a:rPr lang="en-US" sz="7200" dirty="0" err="1"/>
              <a:t>Git</a:t>
            </a:r>
            <a:r>
              <a:rPr lang="en-US" sz="7200" dirty="0"/>
              <a:t>, streamlining the development process and ensuring high-quality code</a:t>
            </a:r>
            <a:r>
              <a:rPr lang="en-US" sz="7200" dirty="0" smtClean="0"/>
              <a:t>.</a:t>
            </a:r>
          </a:p>
          <a:p>
            <a:pPr lvl="1" algn="just">
              <a:spcBef>
                <a:spcPts val="0"/>
              </a:spcBef>
              <a:spcAft>
                <a:spcPts val="0"/>
              </a:spcAft>
            </a:pPr>
            <a:endParaRPr lang="en-US" sz="7200" dirty="0"/>
          </a:p>
          <a:p>
            <a:pPr lvl="0" algn="just">
              <a:spcBef>
                <a:spcPts val="0"/>
              </a:spcBef>
              <a:spcAft>
                <a:spcPts val="0"/>
              </a:spcAft>
            </a:pPr>
            <a:r>
              <a:rPr lang="en-US" sz="7200" b="1" dirty="0"/>
              <a:t>MySQL Workbench (for Database Management):</a:t>
            </a:r>
            <a:endParaRPr lang="en-US" sz="7200" dirty="0"/>
          </a:p>
          <a:p>
            <a:pPr lvl="1" algn="just">
              <a:spcBef>
                <a:spcPts val="0"/>
              </a:spcBef>
              <a:spcAft>
                <a:spcPts val="0"/>
              </a:spcAft>
            </a:pPr>
            <a:r>
              <a:rPr lang="en-US" sz="7200" b="1" dirty="0"/>
              <a:t>Reason for Selection:</a:t>
            </a:r>
            <a:r>
              <a:rPr lang="en-US" sz="7200" dirty="0"/>
              <a:t> As a relational database management system, MySQL Workbench is optimal for storing the financial data required for transactions and investment calculations.</a:t>
            </a:r>
          </a:p>
          <a:p>
            <a:pPr lvl="1" algn="just">
              <a:spcBef>
                <a:spcPts val="0"/>
              </a:spcBef>
              <a:spcAft>
                <a:spcPts val="0"/>
              </a:spcAft>
            </a:pPr>
            <a:r>
              <a:rPr lang="en-US" sz="7200" dirty="0" smtClean="0"/>
              <a:t>It </a:t>
            </a:r>
            <a:r>
              <a:rPr lang="en-US" sz="7200" dirty="0"/>
              <a:t>ensures data integrity, scalability, and security, which are crucial for financial applications</a:t>
            </a:r>
            <a:r>
              <a:rPr lang="en-US" sz="7200" dirty="0" smtClean="0"/>
              <a:t>.</a:t>
            </a:r>
          </a:p>
          <a:p>
            <a:pPr marL="457200" lvl="1" indent="0" algn="just">
              <a:spcBef>
                <a:spcPts val="0"/>
              </a:spcBef>
              <a:spcAft>
                <a:spcPts val="0"/>
              </a:spcAft>
              <a:buNone/>
            </a:pPr>
            <a:endParaRPr lang="en-US" sz="7200" dirty="0"/>
          </a:p>
          <a:p>
            <a:pPr lvl="0" algn="just">
              <a:spcBef>
                <a:spcPts val="0"/>
              </a:spcBef>
              <a:spcAft>
                <a:spcPts val="0"/>
              </a:spcAft>
            </a:pPr>
            <a:r>
              <a:rPr lang="en-US" sz="7200" b="1" dirty="0"/>
              <a:t>React.js (for Web Development):</a:t>
            </a:r>
            <a:endParaRPr lang="en-US" sz="7200" dirty="0"/>
          </a:p>
          <a:p>
            <a:pPr lvl="1" algn="just">
              <a:spcBef>
                <a:spcPts val="0"/>
              </a:spcBef>
              <a:spcAft>
                <a:spcPts val="0"/>
              </a:spcAft>
            </a:pPr>
            <a:r>
              <a:rPr lang="en-US" sz="7200" b="1" dirty="0"/>
              <a:t>Reason for Selection:</a:t>
            </a:r>
            <a:r>
              <a:rPr lang="en-US" sz="7200" dirty="0"/>
              <a:t> React.js allows for the creation of responsive, interactive web applications, which is essential for the transition to a web-based </a:t>
            </a:r>
            <a:r>
              <a:rPr lang="en-US" sz="7200" dirty="0" smtClean="0"/>
              <a:t>solution. </a:t>
            </a:r>
          </a:p>
          <a:p>
            <a:pPr lvl="1" algn="just">
              <a:spcBef>
                <a:spcPts val="0"/>
              </a:spcBef>
              <a:spcAft>
                <a:spcPts val="0"/>
              </a:spcAft>
            </a:pPr>
            <a:r>
              <a:rPr lang="en-US" sz="7200" dirty="0" smtClean="0"/>
              <a:t>It </a:t>
            </a:r>
            <a:r>
              <a:rPr lang="en-US" sz="7200" dirty="0"/>
              <a:t>supports component-based development, making it easier to maintain and scale the application over time.</a:t>
            </a:r>
          </a:p>
          <a:p>
            <a:pPr algn="just"/>
            <a:endParaRPr lang="en-US" dirty="0"/>
          </a:p>
        </p:txBody>
      </p:sp>
    </p:spTree>
    <p:extLst>
      <p:ext uri="{BB962C8B-B14F-4D97-AF65-F5344CB8AC3E}">
        <p14:creationId xmlns:p14="http://schemas.microsoft.com/office/powerpoint/2010/main" val="23936956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2482" y="1088953"/>
            <a:ext cx="9601196" cy="1303867"/>
          </a:xfrm>
        </p:spPr>
        <p:txBody>
          <a:bodyPr>
            <a:normAutofit fontScale="90000"/>
          </a:bodyPr>
          <a:lstStyle/>
          <a:p>
            <a:r>
              <a:rPr lang="en-US" b="1" dirty="0"/>
              <a:t>Design Tools</a:t>
            </a:r>
            <a:r>
              <a:rPr lang="en-US" dirty="0"/>
              <a:t/>
            </a:r>
            <a:br>
              <a:rPr lang="en-US" dirty="0"/>
            </a:br>
            <a:endParaRPr lang="en-US" dirty="0"/>
          </a:p>
        </p:txBody>
      </p:sp>
      <p:sp>
        <p:nvSpPr>
          <p:cNvPr id="3" name="Content Placeholder 2"/>
          <p:cNvSpPr>
            <a:spLocks noGrp="1"/>
          </p:cNvSpPr>
          <p:nvPr>
            <p:ph idx="1"/>
          </p:nvPr>
        </p:nvSpPr>
        <p:spPr>
          <a:xfrm>
            <a:off x="717847" y="2392821"/>
            <a:ext cx="10793338" cy="3982341"/>
          </a:xfrm>
        </p:spPr>
        <p:txBody>
          <a:bodyPr>
            <a:normAutofit fontScale="55000" lnSpcReduction="20000"/>
          </a:bodyPr>
          <a:lstStyle/>
          <a:p>
            <a:pPr marL="0" indent="0">
              <a:buNone/>
            </a:pPr>
            <a:r>
              <a:rPr lang="en-US" sz="4200" b="1" dirty="0" smtClean="0"/>
              <a:t>1. Unified </a:t>
            </a:r>
            <a:r>
              <a:rPr lang="en-US" sz="4200" b="1" dirty="0"/>
              <a:t>Modelling Language (UML</a:t>
            </a:r>
            <a:r>
              <a:rPr lang="en-US" sz="4200" b="1" dirty="0" smtClean="0"/>
              <a:t>)</a:t>
            </a:r>
            <a:endParaRPr lang="en-US" sz="4200" b="1" dirty="0"/>
          </a:p>
          <a:p>
            <a:r>
              <a:rPr lang="en-US" sz="3400" dirty="0" smtClean="0"/>
              <a:t>UML  </a:t>
            </a:r>
            <a:r>
              <a:rPr lang="en-US" sz="3400" dirty="0"/>
              <a:t>is a standardized modeling language comprised of an integrated set of diagrams designed to assist system and software developers in specifying, visualizing, constructing, and documenting software system artifacts, as well as business modeling and other non-software systems. </a:t>
            </a:r>
            <a:endParaRPr lang="en-US" sz="3400" dirty="0" smtClean="0"/>
          </a:p>
          <a:p>
            <a:r>
              <a:rPr lang="en-US" sz="3400" dirty="0" smtClean="0"/>
              <a:t>Wireframing </a:t>
            </a:r>
            <a:r>
              <a:rPr lang="en-US" sz="3400" dirty="0"/>
              <a:t>Tools </a:t>
            </a:r>
            <a:r>
              <a:rPr lang="en-US" sz="3400" dirty="0" smtClean="0"/>
              <a:t>-To </a:t>
            </a:r>
            <a:r>
              <a:rPr lang="en-US" sz="3400" dirty="0"/>
              <a:t>design a user-friendly interface for both clients and staff.</a:t>
            </a:r>
          </a:p>
          <a:p>
            <a:pPr marL="0" indent="0">
              <a:buNone/>
            </a:pPr>
            <a:r>
              <a:rPr lang="en-US" sz="4400" b="1" dirty="0"/>
              <a:t>2.	Flowcharting and Diagram Tools (e.g., </a:t>
            </a:r>
            <a:r>
              <a:rPr lang="en-US" sz="4400" b="1" dirty="0" smtClean="0"/>
              <a:t>Lucid chart, </a:t>
            </a:r>
            <a:r>
              <a:rPr lang="en-US" sz="4400" b="1" dirty="0"/>
              <a:t>Visio)</a:t>
            </a:r>
          </a:p>
          <a:p>
            <a:r>
              <a:rPr lang="en-US" sz="3500" dirty="0"/>
              <a:t>	</a:t>
            </a:r>
            <a:r>
              <a:rPr lang="en-US" sz="3500" dirty="0" smtClean="0"/>
              <a:t>Purpose: To create flowcharts, DFDs, and ERDs for visualizing processes, data flow, and relationships</a:t>
            </a:r>
            <a:r>
              <a:rPr lang="en-US" sz="3500" dirty="0"/>
              <a:t>.</a:t>
            </a:r>
          </a:p>
          <a:p>
            <a:r>
              <a:rPr lang="en-US" sz="3500" dirty="0"/>
              <a:t>	Benefits: Simplifies complex systems, improves clarity, and aids stakeholder understanding</a:t>
            </a:r>
            <a:r>
              <a:rPr lang="en-US" sz="3500" dirty="0" smtClean="0"/>
              <a:t>.</a:t>
            </a:r>
            <a:endParaRPr lang="en-US" sz="3500" dirty="0"/>
          </a:p>
          <a:p>
            <a:pPr marL="0" indent="0">
              <a:buNone/>
            </a:pPr>
            <a:r>
              <a:rPr lang="en-US" sz="4400" b="1" dirty="0"/>
              <a:t>3.	</a:t>
            </a:r>
            <a:r>
              <a:rPr lang="en-US" sz="4400" b="1" dirty="0" smtClean="0"/>
              <a:t>Pseudo code </a:t>
            </a:r>
            <a:r>
              <a:rPr lang="en-US" sz="4400" b="1" dirty="0"/>
              <a:t>Editors</a:t>
            </a:r>
          </a:p>
          <a:p>
            <a:r>
              <a:rPr lang="en-US" sz="3500" dirty="0" smtClean="0"/>
              <a:t>Purpose</a:t>
            </a:r>
            <a:r>
              <a:rPr lang="en-US" sz="3500" dirty="0"/>
              <a:t>: To outline algorithms and logic in a clear, language-agnostic format.</a:t>
            </a:r>
          </a:p>
          <a:p>
            <a:r>
              <a:rPr lang="en-US" sz="3500" dirty="0" smtClean="0"/>
              <a:t>Benefits</a:t>
            </a:r>
            <a:r>
              <a:rPr lang="en-US" sz="3500" dirty="0"/>
              <a:t>: Helps in planning before coding, minimizing errors in development</a:t>
            </a:r>
            <a:r>
              <a:rPr lang="en-US" dirty="0" smtClean="0"/>
              <a:t>.</a:t>
            </a:r>
            <a:endParaRPr lang="en-US" dirty="0"/>
          </a:p>
        </p:txBody>
      </p:sp>
      <p:pic>
        <p:nvPicPr>
          <p:cNvPr id="4" name="Picture 3"/>
          <p:cNvPicPr>
            <a:picLocks noChangeAspect="1"/>
          </p:cNvPicPr>
          <p:nvPr/>
        </p:nvPicPr>
        <p:blipFill>
          <a:blip r:embed="rId2"/>
          <a:stretch>
            <a:fillRect/>
          </a:stretch>
        </p:blipFill>
        <p:spPr>
          <a:xfrm>
            <a:off x="8366333" y="645235"/>
            <a:ext cx="3144852" cy="1747585"/>
          </a:xfrm>
          <a:prstGeom prst="rect">
            <a:avLst/>
          </a:prstGeom>
        </p:spPr>
      </p:pic>
    </p:spTree>
    <p:extLst>
      <p:ext uri="{BB962C8B-B14F-4D97-AF65-F5344CB8AC3E}">
        <p14:creationId xmlns:p14="http://schemas.microsoft.com/office/powerpoint/2010/main" val="2929124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5300" b="1" dirty="0"/>
              <a:t>Security Considerations</a:t>
            </a:r>
            <a:r>
              <a:rPr lang="en-US" dirty="0"/>
              <a:t/>
            </a:r>
            <a:br>
              <a:rPr lang="en-US" dirty="0"/>
            </a:br>
            <a:endParaRPr lang="en-US" dirty="0"/>
          </a:p>
        </p:txBody>
      </p:sp>
      <p:sp>
        <p:nvSpPr>
          <p:cNvPr id="3" name="Content Placeholder 2"/>
          <p:cNvSpPr>
            <a:spLocks noGrp="1"/>
          </p:cNvSpPr>
          <p:nvPr>
            <p:ph idx="1"/>
          </p:nvPr>
        </p:nvSpPr>
        <p:spPr>
          <a:xfrm>
            <a:off x="1295401" y="2556931"/>
            <a:ext cx="10232876" cy="3647315"/>
          </a:xfrm>
        </p:spPr>
        <p:txBody>
          <a:bodyPr>
            <a:noAutofit/>
          </a:bodyPr>
          <a:lstStyle/>
          <a:p>
            <a:pPr>
              <a:spcBef>
                <a:spcPts val="0"/>
              </a:spcBef>
              <a:spcAft>
                <a:spcPts val="0"/>
              </a:spcAft>
            </a:pPr>
            <a:r>
              <a:rPr lang="en-US" sz="2000" dirty="0" smtClean="0"/>
              <a:t>Data </a:t>
            </a:r>
            <a:r>
              <a:rPr lang="en-US" sz="2000" dirty="0"/>
              <a:t>Encryption: All sensitive data, including user financial information and transaction records, should be encrypted both at rest and in transit </a:t>
            </a:r>
            <a:endParaRPr lang="en-US" sz="2000" dirty="0" smtClean="0"/>
          </a:p>
          <a:p>
            <a:pPr>
              <a:spcBef>
                <a:spcPts val="0"/>
              </a:spcBef>
              <a:spcAft>
                <a:spcPts val="0"/>
              </a:spcAft>
            </a:pPr>
            <a:r>
              <a:rPr lang="en-US" sz="2000" dirty="0" smtClean="0"/>
              <a:t>Authentication </a:t>
            </a:r>
            <a:r>
              <a:rPr lang="en-US" sz="2000" dirty="0"/>
              <a:t>and Authorization: Implement strong user authentication mechanisms (e.g., multi-factor authentication) to ensure that only authorized users can access their accounts and perform transactions.</a:t>
            </a:r>
          </a:p>
          <a:p>
            <a:pPr>
              <a:spcBef>
                <a:spcPts val="0"/>
              </a:spcBef>
              <a:spcAft>
                <a:spcPts val="0"/>
              </a:spcAft>
            </a:pPr>
            <a:r>
              <a:rPr lang="en-US" sz="2000" dirty="0" smtClean="0"/>
              <a:t>Access </a:t>
            </a:r>
            <a:r>
              <a:rPr lang="en-US" sz="2000" dirty="0"/>
              <a:t>Control: Implement role-based access control (RBAC) to ensure that only users with the necessary permissions can access or modify sensitive information.</a:t>
            </a:r>
          </a:p>
          <a:p>
            <a:pPr>
              <a:spcBef>
                <a:spcPts val="0"/>
              </a:spcBef>
              <a:spcAft>
                <a:spcPts val="0"/>
              </a:spcAft>
            </a:pPr>
            <a:r>
              <a:rPr lang="en-US" sz="2000" dirty="0" smtClean="0"/>
              <a:t>Regular </a:t>
            </a:r>
            <a:r>
              <a:rPr lang="en-US" sz="2000" dirty="0"/>
              <a:t>Audits and Monitoring: Regular security audits should be performed, and the system should log all access and transactions for monitoring and potential security breaches.</a:t>
            </a:r>
          </a:p>
          <a:p>
            <a:pPr>
              <a:spcBef>
                <a:spcPts val="0"/>
              </a:spcBef>
              <a:spcAft>
                <a:spcPts val="0"/>
              </a:spcAft>
            </a:pPr>
            <a:r>
              <a:rPr lang="en-US" sz="2000" dirty="0" smtClean="0"/>
              <a:t>Data </a:t>
            </a:r>
            <a:r>
              <a:rPr lang="en-US" sz="2000" dirty="0"/>
              <a:t>Backup and Recovery: Regular backups of user data and transaction history should be performed, and there should be a disaster recovery plan in case of system failure or data loss.</a:t>
            </a:r>
          </a:p>
          <a:p>
            <a:pPr marL="0" indent="0">
              <a:spcBef>
                <a:spcPts val="0"/>
              </a:spcBef>
              <a:spcAft>
                <a:spcPts val="0"/>
              </a:spcAft>
              <a:buNone/>
            </a:pPr>
            <a:endParaRPr lang="en-US" sz="2000" dirty="0"/>
          </a:p>
        </p:txBody>
      </p:sp>
    </p:spTree>
    <p:extLst>
      <p:ext uri="{BB962C8B-B14F-4D97-AF65-F5344CB8AC3E}">
        <p14:creationId xmlns:p14="http://schemas.microsoft.com/office/powerpoint/2010/main" val="14356804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a:t>
            </a:r>
            <a:r>
              <a:rPr lang="en-US" b="1" dirty="0" smtClean="0"/>
              <a:t>onstraints </a:t>
            </a:r>
            <a:r>
              <a:rPr lang="en-US" b="1" dirty="0"/>
              <a:t>for the Enomy-Finances </a:t>
            </a:r>
            <a:r>
              <a:rPr lang="en-US" b="1" dirty="0" smtClean="0"/>
              <a:t>Project</a:t>
            </a:r>
            <a:endParaRPr lang="en-US" b="1" dirty="0"/>
          </a:p>
        </p:txBody>
      </p:sp>
      <p:sp>
        <p:nvSpPr>
          <p:cNvPr id="3" name="Content Placeholder 2"/>
          <p:cNvSpPr>
            <a:spLocks noGrp="1"/>
          </p:cNvSpPr>
          <p:nvPr>
            <p:ph idx="1"/>
          </p:nvPr>
        </p:nvSpPr>
        <p:spPr>
          <a:xfrm>
            <a:off x="1295401" y="2427006"/>
            <a:ext cx="9601196" cy="3811424"/>
          </a:xfrm>
        </p:spPr>
        <p:txBody>
          <a:bodyPr>
            <a:normAutofit fontScale="55000" lnSpcReduction="20000"/>
          </a:bodyPr>
          <a:lstStyle/>
          <a:p>
            <a:pPr marL="0" indent="0">
              <a:lnSpc>
                <a:spcPct val="120000"/>
              </a:lnSpc>
              <a:buNone/>
            </a:pPr>
            <a:r>
              <a:rPr lang="en-US" sz="2900" b="1" dirty="0"/>
              <a:t>1. Financial Constraints</a:t>
            </a:r>
            <a:endParaRPr lang="en-US" sz="2900" dirty="0"/>
          </a:p>
          <a:p>
            <a:pPr lvl="0">
              <a:lnSpc>
                <a:spcPct val="120000"/>
              </a:lnSpc>
            </a:pPr>
            <a:r>
              <a:rPr lang="en-US" sz="2900" b="1" dirty="0"/>
              <a:t>Budget Limitations</a:t>
            </a:r>
            <a:r>
              <a:rPr lang="en-US" sz="2900" dirty="0"/>
              <a:t>: The project has a fixed budget allocated for development, deployment, and maintenance. Any significant deviation from the planned budget could affect the overall feasibility of the project.</a:t>
            </a:r>
          </a:p>
          <a:p>
            <a:pPr lvl="0">
              <a:lnSpc>
                <a:spcPct val="120000"/>
              </a:lnSpc>
            </a:pPr>
            <a:r>
              <a:rPr lang="en-US" sz="2900" b="1" dirty="0"/>
              <a:t>Operational Costs</a:t>
            </a:r>
            <a:r>
              <a:rPr lang="en-US" sz="2900" dirty="0"/>
              <a:t>: The project needs to consider the ongoing operational costs, including licensing fees, maintenance, and server hosting costs. These costs should be accounted for in the feasibility study.</a:t>
            </a:r>
          </a:p>
          <a:p>
            <a:pPr marL="0" indent="0">
              <a:lnSpc>
                <a:spcPct val="120000"/>
              </a:lnSpc>
              <a:buNone/>
            </a:pPr>
            <a:r>
              <a:rPr lang="en-US" sz="2900" b="1" dirty="0"/>
              <a:t>2. Technological Constraints</a:t>
            </a:r>
            <a:endParaRPr lang="en-US" sz="2900" dirty="0"/>
          </a:p>
          <a:p>
            <a:pPr lvl="0">
              <a:lnSpc>
                <a:spcPct val="120000"/>
              </a:lnSpc>
            </a:pPr>
            <a:r>
              <a:rPr lang="en-US" sz="2900" b="1" dirty="0"/>
              <a:t>Legacy Systems Integration</a:t>
            </a:r>
            <a:r>
              <a:rPr lang="en-US" sz="2900" dirty="0"/>
              <a:t>: The current system is built on a client-server architecture, and moving to a web-based application could introduce challenges related to data integration and system compatibility. The project needs to address how to integrate legacy systems with the new web-based application.</a:t>
            </a:r>
          </a:p>
          <a:p>
            <a:pPr lvl="0">
              <a:lnSpc>
                <a:spcPct val="120000"/>
              </a:lnSpc>
            </a:pPr>
            <a:r>
              <a:rPr lang="en-US" sz="2900" b="1" dirty="0"/>
              <a:t>Third-Party Dependencies</a:t>
            </a:r>
            <a:r>
              <a:rPr lang="en-US" sz="2900" dirty="0"/>
              <a:t>: If the project relies on third-party APIs for currency conversion or financial data, it will have to account for potential changes in third-party API pricing, data availability, or changes to data access policies.</a:t>
            </a:r>
          </a:p>
          <a:p>
            <a:pPr marL="0" lvl="0" indent="0">
              <a:buNone/>
            </a:pPr>
            <a:endParaRPr lang="en-US" dirty="0"/>
          </a:p>
        </p:txBody>
      </p:sp>
    </p:spTree>
    <p:extLst>
      <p:ext uri="{BB962C8B-B14F-4D97-AF65-F5344CB8AC3E}">
        <p14:creationId xmlns:p14="http://schemas.microsoft.com/office/powerpoint/2010/main" val="4751462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Alternate Solutions</a:t>
            </a:r>
            <a:endParaRPr lang="en-US" dirty="0"/>
          </a:p>
        </p:txBody>
      </p:sp>
      <p:sp>
        <p:nvSpPr>
          <p:cNvPr id="3" name="Content Placeholder 2"/>
          <p:cNvSpPr>
            <a:spLocks noGrp="1"/>
          </p:cNvSpPr>
          <p:nvPr>
            <p:ph idx="1"/>
          </p:nvPr>
        </p:nvSpPr>
        <p:spPr>
          <a:xfrm>
            <a:off x="1295400" y="2556932"/>
            <a:ext cx="10190147" cy="3826776"/>
          </a:xfrm>
        </p:spPr>
        <p:txBody>
          <a:bodyPr>
            <a:noAutofit/>
          </a:bodyPr>
          <a:lstStyle/>
          <a:p>
            <a:pPr marL="0" indent="0" algn="just">
              <a:spcBef>
                <a:spcPts val="0"/>
              </a:spcBef>
              <a:spcAft>
                <a:spcPts val="0"/>
              </a:spcAft>
              <a:buNone/>
            </a:pPr>
            <a:r>
              <a:rPr lang="en-US" sz="2000" b="1" dirty="0" smtClean="0"/>
              <a:t>Currency Conversion phase</a:t>
            </a:r>
            <a:endParaRPr lang="en-US" sz="2000" dirty="0" smtClean="0"/>
          </a:p>
          <a:p>
            <a:pPr lvl="0" algn="just">
              <a:spcBef>
                <a:spcPts val="0"/>
              </a:spcBef>
              <a:spcAft>
                <a:spcPts val="0"/>
              </a:spcAft>
            </a:pPr>
            <a:r>
              <a:rPr lang="en-US" sz="2000" b="1" dirty="0" smtClean="0"/>
              <a:t>Alternate Solution 1</a:t>
            </a:r>
            <a:r>
              <a:rPr lang="en-US" sz="2000" dirty="0" smtClean="0"/>
              <a:t>: Use a pre-built currency conversion API instead of developing a custom conversion service. This would reduce development time but may introduce dependency on an external service.</a:t>
            </a:r>
          </a:p>
          <a:p>
            <a:pPr lvl="0" algn="just">
              <a:spcBef>
                <a:spcPts val="0"/>
              </a:spcBef>
              <a:spcAft>
                <a:spcPts val="0"/>
              </a:spcAft>
            </a:pPr>
            <a:r>
              <a:rPr lang="en-US" sz="2000" b="1" dirty="0" smtClean="0"/>
              <a:t>Alternate Solution 2</a:t>
            </a:r>
            <a:r>
              <a:rPr lang="en-US" sz="2000" dirty="0" smtClean="0"/>
              <a:t>: Develop a dedicated server-side service that fetches exchange rates periodically from multiple sources (e.g., banks or financial APIs) to ensure the most accurate rates.</a:t>
            </a:r>
          </a:p>
          <a:p>
            <a:pPr marL="0" indent="0" algn="just">
              <a:spcBef>
                <a:spcPts val="0"/>
              </a:spcBef>
              <a:spcAft>
                <a:spcPts val="0"/>
              </a:spcAft>
              <a:buNone/>
            </a:pPr>
            <a:r>
              <a:rPr lang="en-US" sz="2000" b="1" dirty="0" smtClean="0"/>
              <a:t>Savings and Investment Module:</a:t>
            </a:r>
            <a:endParaRPr lang="en-US" sz="2000" dirty="0" smtClean="0"/>
          </a:p>
          <a:p>
            <a:pPr lvl="0" algn="just">
              <a:spcBef>
                <a:spcPts val="0"/>
              </a:spcBef>
              <a:spcAft>
                <a:spcPts val="0"/>
              </a:spcAft>
            </a:pPr>
            <a:r>
              <a:rPr lang="en-US" sz="2000" b="1" dirty="0" smtClean="0"/>
              <a:t>Alternate </a:t>
            </a:r>
            <a:r>
              <a:rPr lang="en-US" sz="2000" b="1" dirty="0"/>
              <a:t>Solution 1</a:t>
            </a:r>
            <a:r>
              <a:rPr lang="en-US" sz="2000" dirty="0"/>
              <a:t>: Use a third-party financial service provider API to calculate expected returns and taxes, rather than building custom algorithms for these calculations. This would save time but could limit flexibility and control.</a:t>
            </a:r>
          </a:p>
          <a:p>
            <a:pPr algn="just">
              <a:spcBef>
                <a:spcPts val="0"/>
              </a:spcBef>
              <a:spcAft>
                <a:spcPts val="0"/>
              </a:spcAft>
            </a:pPr>
            <a:r>
              <a:rPr lang="en-US" sz="2000" b="1" dirty="0"/>
              <a:t>Alternate Solution 2</a:t>
            </a:r>
            <a:r>
              <a:rPr lang="en-US" sz="2000" dirty="0"/>
              <a:t>: Use a client-side calculation module, allowing faster results and reducing server load, but this might compromise security, especially regarding sensitive financial data.</a:t>
            </a:r>
          </a:p>
        </p:txBody>
      </p:sp>
    </p:spTree>
    <p:extLst>
      <p:ext uri="{BB962C8B-B14F-4D97-AF65-F5344CB8AC3E}">
        <p14:creationId xmlns:p14="http://schemas.microsoft.com/office/powerpoint/2010/main" val="13118735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170774" y="880529"/>
            <a:ext cx="10050463" cy="5165725"/>
          </a:xfrm>
        </p:spPr>
        <p:txBody>
          <a:bodyPr>
            <a:normAutofit fontScale="85000" lnSpcReduction="20000"/>
          </a:bodyPr>
          <a:lstStyle/>
          <a:p>
            <a:pPr marL="0" indent="0">
              <a:buNone/>
            </a:pPr>
            <a:r>
              <a:rPr lang="en-US" b="1" dirty="0"/>
              <a:t>Technical Constraints</a:t>
            </a:r>
            <a:endParaRPr lang="en-US" dirty="0"/>
          </a:p>
          <a:p>
            <a:pPr lvl="0"/>
            <a:r>
              <a:rPr lang="en-US" b="1" dirty="0"/>
              <a:t>Technology Stack Limitations</a:t>
            </a:r>
            <a:r>
              <a:rPr lang="en-US" dirty="0"/>
              <a:t>: The choice of technology stack for </a:t>
            </a:r>
            <a:r>
              <a:rPr lang="en-US" dirty="0" smtClean="0"/>
              <a:t>development could </a:t>
            </a:r>
            <a:r>
              <a:rPr lang="en-US" dirty="0"/>
              <a:t>impose constraints, such as limited access to certain features or slower development times. The project needs to select a stack that aligns with organizational goals and provides the best balance between functionality and technical limitations</a:t>
            </a:r>
            <a:r>
              <a:rPr lang="en-US" dirty="0" smtClean="0"/>
              <a:t>.</a:t>
            </a:r>
          </a:p>
          <a:p>
            <a:pPr marL="0" lvl="0" indent="0">
              <a:buNone/>
            </a:pPr>
            <a:endParaRPr lang="en-US" dirty="0"/>
          </a:p>
          <a:p>
            <a:pPr lvl="0"/>
            <a:r>
              <a:rPr lang="en-US" b="1" dirty="0"/>
              <a:t>Server Requirements</a:t>
            </a:r>
            <a:r>
              <a:rPr lang="en-US" dirty="0"/>
              <a:t>: The deployment of a web-based application requires robust server infrastructure to handle database storage, transaction processing, and data retrieval from external APIs. The project must consider server capacity, load balancing, and fault tolerance as key technical constraints.</a:t>
            </a:r>
          </a:p>
          <a:p>
            <a:pPr marL="0" indent="0">
              <a:buNone/>
            </a:pPr>
            <a:r>
              <a:rPr lang="en-US" b="1" dirty="0"/>
              <a:t>4. Time Constraints</a:t>
            </a:r>
            <a:endParaRPr lang="en-US" dirty="0"/>
          </a:p>
          <a:p>
            <a:pPr lvl="0"/>
            <a:r>
              <a:rPr lang="en-US" b="1" dirty="0"/>
              <a:t>Time for Development and Testing</a:t>
            </a:r>
            <a:r>
              <a:rPr lang="en-US" dirty="0"/>
              <a:t>: The project must meet deadlines for development and testing phases. Delays in development could affect the project’s launch date and customer expectations.</a:t>
            </a:r>
          </a:p>
          <a:p>
            <a:pPr lvl="0"/>
            <a:r>
              <a:rPr lang="en-US" b="1" dirty="0"/>
              <a:t>Time for System Integration</a:t>
            </a:r>
            <a:r>
              <a:rPr lang="en-US" dirty="0"/>
              <a:t>: The project must allocate adequate time for integration between different system components, such as the client application and the server-side data processing, which can introduce delays if not managed properly.</a:t>
            </a:r>
          </a:p>
          <a:p>
            <a:endParaRPr lang="en-US" dirty="0"/>
          </a:p>
        </p:txBody>
      </p:sp>
    </p:spTree>
    <p:extLst>
      <p:ext uri="{BB962C8B-B14F-4D97-AF65-F5344CB8AC3E}">
        <p14:creationId xmlns:p14="http://schemas.microsoft.com/office/powerpoint/2010/main" val="35730015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800" b="1" dirty="0" smtClean="0"/>
              <a:t/>
            </a:r>
            <a:br>
              <a:rPr lang="en-US" sz="4800" b="1" dirty="0" smtClean="0"/>
            </a:br>
            <a:r>
              <a:rPr lang="en-US" sz="4800" b="1" dirty="0" smtClean="0"/>
              <a:t>Conclusion</a:t>
            </a:r>
            <a:r>
              <a:rPr lang="en-US" sz="4800" dirty="0"/>
              <a:t/>
            </a:r>
            <a:br>
              <a:rPr lang="en-US" sz="4800" dirty="0"/>
            </a:br>
            <a:endParaRPr lang="en-US" sz="4800" dirty="0"/>
          </a:p>
        </p:txBody>
      </p:sp>
      <p:sp>
        <p:nvSpPr>
          <p:cNvPr id="3" name="Content Placeholder 2"/>
          <p:cNvSpPr>
            <a:spLocks noGrp="1"/>
          </p:cNvSpPr>
          <p:nvPr>
            <p:ph idx="1"/>
          </p:nvPr>
        </p:nvSpPr>
        <p:spPr/>
        <p:txBody>
          <a:bodyPr>
            <a:normAutofit/>
          </a:bodyPr>
          <a:lstStyle/>
          <a:p>
            <a:r>
              <a:rPr lang="en-US" sz="2800" b="1" dirty="0" smtClean="0"/>
              <a:t>Agile </a:t>
            </a:r>
            <a:r>
              <a:rPr lang="en-US" sz="2800" b="1" dirty="0"/>
              <a:t>is the recommended SDLC model</a:t>
            </a:r>
            <a:r>
              <a:rPr lang="en-US" sz="2800" dirty="0"/>
              <a:t> for flexibility, enabling rapid iteration and responsiveness to changing requirements, especially in a dynamic field like finance.</a:t>
            </a:r>
          </a:p>
          <a:p>
            <a:pPr lvl="0"/>
            <a:r>
              <a:rPr lang="en-US" sz="2800" dirty="0" smtClean="0"/>
              <a:t> </a:t>
            </a:r>
            <a:r>
              <a:rPr lang="en-US" sz="2800" dirty="0"/>
              <a:t>B</a:t>
            </a:r>
            <a:r>
              <a:rPr lang="en-US" sz="2800" dirty="0" smtClean="0"/>
              <a:t>y </a:t>
            </a:r>
            <a:r>
              <a:rPr lang="en-US" sz="2800" dirty="0"/>
              <a:t>incorporating Regular </a:t>
            </a:r>
            <a:r>
              <a:rPr lang="en-US" sz="2800" dirty="0" smtClean="0"/>
              <a:t>feedback </a:t>
            </a:r>
            <a:r>
              <a:rPr lang="en-US" sz="2800" dirty="0"/>
              <a:t>from stakeholders and regular testing phases, we guarantee that the system will evolve to meet and exceed user expectations, delivering a robust and user-friendly platform for Enomy-Finances</a:t>
            </a:r>
            <a:r>
              <a:rPr lang="en-US" sz="2800" dirty="0" smtClean="0"/>
              <a:t>.</a:t>
            </a:r>
            <a:endParaRPr lang="en-US" sz="2800" dirty="0"/>
          </a:p>
        </p:txBody>
      </p:sp>
    </p:spTree>
    <p:extLst>
      <p:ext uri="{BB962C8B-B14F-4D97-AF65-F5344CB8AC3E}">
        <p14:creationId xmlns:p14="http://schemas.microsoft.com/office/powerpoint/2010/main" val="37810551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1461331" y="2691822"/>
            <a:ext cx="9601200" cy="1303337"/>
          </a:xfrm>
        </p:spPr>
        <p:txBody>
          <a:bodyPr>
            <a:noAutofit/>
          </a:bodyPr>
          <a:lstStyle/>
          <a:p>
            <a:r>
              <a:rPr lang="en-US" sz="9600" b="1" dirty="0" smtClean="0"/>
              <a:t>THANK YOU</a:t>
            </a:r>
            <a:endParaRPr lang="en-US" sz="9600" b="1" dirty="0"/>
          </a:p>
        </p:txBody>
      </p:sp>
      <p:pic>
        <p:nvPicPr>
          <p:cNvPr id="5" name="Picture 4"/>
          <p:cNvPicPr>
            <a:picLocks noChangeAspect="1"/>
          </p:cNvPicPr>
          <p:nvPr/>
        </p:nvPicPr>
        <p:blipFill rotWithShape="1">
          <a:blip r:embed="rId2"/>
          <a:srcRect b="10658"/>
          <a:stretch/>
        </p:blipFill>
        <p:spPr>
          <a:xfrm>
            <a:off x="4124191" y="3864480"/>
            <a:ext cx="3421745" cy="2297037"/>
          </a:xfrm>
          <a:prstGeom prst="rect">
            <a:avLst/>
          </a:prstGeom>
        </p:spPr>
      </p:pic>
    </p:spTree>
    <p:extLst>
      <p:ext uri="{BB962C8B-B14F-4D97-AF65-F5344CB8AC3E}">
        <p14:creationId xmlns:p14="http://schemas.microsoft.com/office/powerpoint/2010/main" val="284342975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643</TotalTime>
  <Words>1593</Words>
  <Application>Microsoft Office PowerPoint</Application>
  <PresentationFormat>Widescreen</PresentationFormat>
  <Paragraphs>141</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Garamond</vt:lpstr>
      <vt:lpstr>Latha</vt:lpstr>
      <vt:lpstr>Times New Roman</vt:lpstr>
      <vt:lpstr>Wingdings</vt:lpstr>
      <vt:lpstr>Organic</vt:lpstr>
      <vt:lpstr>Implementation of the Enomy-Finances Application</vt:lpstr>
      <vt:lpstr>Enomy-Finances </vt:lpstr>
      <vt:lpstr>Scope of the System</vt:lpstr>
      <vt:lpstr>Given below are various SDLC models that Phonyt Digital Solutions (PDS) could use for Enomy-Finances are</vt:lpstr>
      <vt:lpstr>AGILE METHODOLOGY</vt:lpstr>
      <vt:lpstr>Why Agile is the best fit for the Enomy-Finances project? </vt:lpstr>
      <vt:lpstr>  Functional Requirements   </vt:lpstr>
      <vt:lpstr>Non-Functional Requirements </vt:lpstr>
      <vt:lpstr>Stakeholder Requirements</vt:lpstr>
      <vt:lpstr>Timeline and Milestones</vt:lpstr>
      <vt:lpstr>Potential risks associated with system </vt:lpstr>
      <vt:lpstr>Development Tools </vt:lpstr>
      <vt:lpstr>Design Tools </vt:lpstr>
      <vt:lpstr>Security Considerations </vt:lpstr>
      <vt:lpstr>Constraints for the Enomy-Finances Project</vt:lpstr>
      <vt:lpstr>Alternate Solutions</vt:lpstr>
      <vt:lpstr>PowerPoint Presentation</vt:lpstr>
      <vt:lpstr> Conclusion </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20</cp:revision>
  <dcterms:created xsi:type="dcterms:W3CDTF">2024-12-24T05:29:48Z</dcterms:created>
  <dcterms:modified xsi:type="dcterms:W3CDTF">2024-12-25T10:35:25Z</dcterms:modified>
</cp:coreProperties>
</file>