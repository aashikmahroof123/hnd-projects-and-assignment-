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  <p:sldId id="264" r:id="rId12"/>
    <p:sldId id="269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sign_pattern_(computer_science)" TargetMode="External"/><Relationship Id="rId2" Type="http://schemas.openxmlformats.org/officeDocument/2006/relationships/hyperlink" Target="https://en.wikipedia.org/wiki/Software_engineer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en.wikipedia.org/wiki/Object_lifetim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629" y="764771"/>
            <a:ext cx="11488189" cy="325858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Investigating the Impact of SOLID Principles on OOP Development at AQDS </a:t>
            </a:r>
            <a:r>
              <a:rPr lang="en-US" b="1" dirty="0" smtClean="0">
                <a:solidFill>
                  <a:srgbClr val="FF0000"/>
                </a:solidFill>
              </a:rPr>
              <a:t>&amp; </a:t>
            </a:r>
            <a:r>
              <a:rPr lang="en-US" b="1" dirty="0">
                <a:solidFill>
                  <a:srgbClr val="FF0000"/>
                </a:solidFill>
              </a:rPr>
              <a:t>Dream Book 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389120"/>
            <a:ext cx="7766936" cy="2211185"/>
          </a:xfrm>
        </p:spPr>
        <p:txBody>
          <a:bodyPr>
            <a:normAutofit/>
          </a:bodyPr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M.M.M  AASHIK MAHROOF</a:t>
            </a:r>
          </a:p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E230667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12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0883" y="526772"/>
            <a:ext cx="4451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 to OOP Paradigm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3464" y="988437"/>
            <a:ext cx="11690647" cy="647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Object-Oriented Programming (OOP) is a paradigm centered around </a:t>
            </a:r>
            <a:r>
              <a:rPr lang="en-US" sz="2000" b="1" dirty="0"/>
              <a:t>objects and classes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Encourages reusability, scalability, and modularity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Commonly used in business applications like AQDS and Dream Book Shop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Focuses on real-world modeling and </a:t>
            </a:r>
            <a:r>
              <a:rPr lang="en-US" sz="2000" dirty="0" smtClean="0"/>
              <a:t>modularity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OOP is a programming paradigm based on the concept of “objects</a:t>
            </a:r>
            <a:r>
              <a:rPr lang="en-US" sz="2000" dirty="0" smtClean="0"/>
              <a:t>”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Objects </a:t>
            </a:r>
            <a:r>
              <a:rPr lang="en-US" sz="2000" dirty="0"/>
              <a:t>contain both </a:t>
            </a:r>
            <a:r>
              <a:rPr lang="en-US" sz="2000" b="1" dirty="0"/>
              <a:t>data</a:t>
            </a:r>
            <a:r>
              <a:rPr lang="en-US" sz="2000" dirty="0"/>
              <a:t> (attributes) and </a:t>
            </a:r>
            <a:r>
              <a:rPr lang="en-US" sz="2000" b="1" dirty="0"/>
              <a:t>behaviors</a:t>
            </a:r>
            <a:r>
              <a:rPr lang="en-US" sz="2000" dirty="0"/>
              <a:t> (methods</a:t>
            </a:r>
            <a:r>
              <a:rPr lang="en-US" sz="2000" dirty="0" smtClean="0"/>
              <a:t>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/>
              <a:t>Supports </a:t>
            </a:r>
            <a:r>
              <a:rPr lang="en-US" sz="2000" dirty="0"/>
              <a:t>abstraction, encapsulation, inheritance, and </a:t>
            </a:r>
            <a:r>
              <a:rPr lang="en-US" sz="2000" dirty="0" smtClean="0"/>
              <a:t>polymorphism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Encourages clear class design and structured </a:t>
            </a:r>
            <a:r>
              <a:rPr lang="en-US" sz="2000" dirty="0" smtClean="0"/>
              <a:t>architecture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Widely supported in modern languages (Java, Python, C++, etc</a:t>
            </a:r>
            <a:r>
              <a:rPr lang="en-US" sz="2000" dirty="0" smtClean="0"/>
              <a:t>.)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Enables efficient collaboration in teams through clear module separation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673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3072" y="321672"/>
            <a:ext cx="231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OOP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0" y="24133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09301" y="820396"/>
            <a:ext cx="843469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Encapsulation </a:t>
            </a:r>
            <a:endParaRPr lang="en-US" dirty="0" smtClean="0"/>
          </a:p>
          <a:p>
            <a:r>
              <a:rPr lang="en-US" dirty="0" smtClean="0"/>
              <a:t>Protects </a:t>
            </a:r>
            <a:r>
              <a:rPr lang="en-US" dirty="0"/>
              <a:t>internal object data by controlling access through public methods and private attributes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Abstraction</a:t>
            </a:r>
          </a:p>
          <a:p>
            <a:r>
              <a:rPr lang="en-US" dirty="0" smtClean="0"/>
              <a:t>Simplifies </a:t>
            </a:r>
            <a:r>
              <a:rPr lang="en-US" dirty="0"/>
              <a:t>systems by exposing only necessary features, hiding internal implementation complexities. 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Inheritance </a:t>
            </a:r>
          </a:p>
          <a:p>
            <a:r>
              <a:rPr lang="en-US" dirty="0" smtClean="0"/>
              <a:t>Enables </a:t>
            </a:r>
            <a:r>
              <a:rPr lang="en-US" dirty="0"/>
              <a:t>new classes to reuse and extend features from existing parent classes. 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Polymorphism </a:t>
            </a:r>
          </a:p>
          <a:p>
            <a:r>
              <a:rPr lang="en-US" dirty="0" smtClean="0"/>
              <a:t>Allows </a:t>
            </a:r>
            <a:r>
              <a:rPr lang="en-US" dirty="0"/>
              <a:t>methods to perform different tasks depending on the object calling them.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287" y="1377634"/>
            <a:ext cx="2944623" cy="16268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331" y="2743141"/>
            <a:ext cx="3621338" cy="11556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023" y="5338434"/>
            <a:ext cx="3926164" cy="5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1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015" y="150726"/>
            <a:ext cx="1173479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Class </a:t>
            </a:r>
            <a:r>
              <a:rPr lang="en-US" sz="2400" b="1" dirty="0" smtClean="0">
                <a:solidFill>
                  <a:srgbClr val="FF0000"/>
                </a:solidFill>
              </a:rPr>
              <a:t>Relationships</a:t>
            </a:r>
          </a:p>
          <a:p>
            <a:pPr algn="ctr"/>
            <a:r>
              <a:rPr lang="en-US" sz="2400" b="1" kern="0" dirty="0">
                <a:solidFill>
                  <a:schemeClr val="accent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 Unicode MS" panose="020B0604020202020204" pitchFamily="34" charset="-128"/>
              </a:rPr>
              <a:t>There are four types of Class Relationships in </a:t>
            </a:r>
            <a:r>
              <a:rPr lang="en-US" sz="2400" b="1" kern="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 Unicode MS" panose="020B0604020202020204" pitchFamily="34" charset="-128"/>
              </a:rPr>
              <a:t>OOP</a:t>
            </a:r>
          </a:p>
          <a:p>
            <a:pPr algn="ctr"/>
            <a:endParaRPr lang="en-US" sz="2400" b="1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Association</a:t>
            </a:r>
            <a:r>
              <a:rPr lang="en-US" dirty="0" smtClean="0"/>
              <a:t>:</a:t>
            </a:r>
            <a:r>
              <a:rPr lang="en-US" dirty="0"/>
              <a:t> An association is a symmetrical relationship between two classes. It has a feature called multiplicity/cardinality which indicates the number of instances involved in the association. Based on multiplicity, we can categorize associations into three types: one-to-one, one-to-many and many-to-many.</a:t>
            </a:r>
          </a:p>
          <a:p>
            <a:r>
              <a:rPr lang="en-US" dirty="0" smtClean="0"/>
              <a:t>    (</a:t>
            </a:r>
            <a:r>
              <a:rPr lang="en-US" dirty="0"/>
              <a:t>e.g</a:t>
            </a:r>
            <a:r>
              <a:rPr lang="en-US" dirty="0" smtClean="0"/>
              <a:t>. </a:t>
            </a:r>
            <a:r>
              <a:rPr lang="en-US" dirty="0"/>
              <a:t>Shop has Books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Aggregation</a:t>
            </a:r>
            <a:r>
              <a:rPr lang="en-US" dirty="0" smtClean="0"/>
              <a:t>: </a:t>
            </a:r>
            <a:r>
              <a:rPr lang="en-US" dirty="0"/>
              <a:t>This shows part-whole relationships between objects. An object can be a component/part of another object when there is an </a:t>
            </a:r>
            <a:r>
              <a:rPr lang="en-US" b="1" dirty="0"/>
              <a:t>“Is-part-of”</a:t>
            </a:r>
            <a:r>
              <a:rPr lang="en-US" dirty="0"/>
              <a:t> relationship. </a:t>
            </a:r>
            <a:r>
              <a:rPr lang="en-US" dirty="0" smtClean="0"/>
              <a:t>(</a:t>
            </a:r>
            <a:r>
              <a:rPr lang="en-US" dirty="0"/>
              <a:t>e.g</a:t>
            </a:r>
            <a:r>
              <a:rPr lang="en-US" dirty="0" smtClean="0"/>
              <a:t>. </a:t>
            </a:r>
            <a:r>
              <a:rPr lang="en-US" dirty="0"/>
              <a:t>Author writes Books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Composition</a:t>
            </a:r>
            <a:r>
              <a:rPr lang="en-US" dirty="0" smtClean="0"/>
              <a:t>:</a:t>
            </a:r>
            <a:r>
              <a:rPr lang="en-US" dirty="0"/>
              <a:t> This is a strong form of aggregation with a life time dependency between the “Whole” and the “parts”. The part/component belongs to just one “whole”. If the “whole” is destroyed, part is also destroyed.</a:t>
            </a:r>
          </a:p>
          <a:p>
            <a:r>
              <a:rPr lang="en-US" dirty="0" smtClean="0"/>
              <a:t>    (e.g. Book </a:t>
            </a:r>
            <a:r>
              <a:rPr lang="en-US" dirty="0"/>
              <a:t>composed of Pages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Inheritance</a:t>
            </a:r>
            <a:r>
              <a:rPr lang="en-US" dirty="0"/>
              <a:t>: </a:t>
            </a:r>
            <a:r>
              <a:rPr lang="en-US" dirty="0"/>
              <a:t>We can organize classes into a hierarchy when they have some common features.  This will allow us to derive new classes from existing classes. </a:t>
            </a:r>
            <a:r>
              <a:rPr lang="en-US" dirty="0" smtClean="0"/>
              <a:t>(</a:t>
            </a:r>
            <a:r>
              <a:rPr lang="en-US" dirty="0"/>
              <a:t>e.g</a:t>
            </a:r>
            <a:r>
              <a:rPr lang="en-US" dirty="0" smtClean="0"/>
              <a:t>. </a:t>
            </a:r>
            <a:r>
              <a:rPr lang="en-US" dirty="0"/>
              <a:t>Admin is a User).</a:t>
            </a:r>
          </a:p>
        </p:txBody>
      </p:sp>
    </p:spTree>
    <p:extLst>
      <p:ext uri="{BB962C8B-B14F-4D97-AF65-F5344CB8AC3E}">
        <p14:creationId xmlns:p14="http://schemas.microsoft.com/office/powerpoint/2010/main" val="265779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123" y="0"/>
            <a:ext cx="8979877" cy="707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</a:rPr>
              <a:t>What is SOLID</a:t>
            </a:r>
            <a:r>
              <a:rPr lang="en-US" sz="3200" b="1" dirty="0" smtClean="0">
                <a:solidFill>
                  <a:schemeClr val="accent2"/>
                </a:solidFill>
              </a:rPr>
              <a:t>?</a:t>
            </a:r>
          </a:p>
          <a:p>
            <a:pPr algn="ctr"/>
            <a:endParaRPr lang="en-US" sz="3200" b="1" dirty="0" smtClean="0"/>
          </a:p>
          <a:p>
            <a:r>
              <a:rPr lang="en-GB" sz="2000" dirty="0"/>
              <a:t>SOLID is a collection of five object-oriented design principles that may help you build more manageable and re-usable code based on well-designed, clearly organized classes</a:t>
            </a:r>
            <a:r>
              <a:rPr lang="en-GB" sz="2000" dirty="0" smtClean="0"/>
              <a:t>.</a:t>
            </a:r>
          </a:p>
          <a:p>
            <a:endParaRPr lang="en-US" b="1" dirty="0"/>
          </a:p>
          <a:p>
            <a:r>
              <a:rPr lang="en-US" sz="2000" b="1" dirty="0"/>
              <a:t>SOLID</a:t>
            </a:r>
            <a:r>
              <a:rPr lang="en-US" sz="2000" dirty="0"/>
              <a:t> is an acronym for five design principles in OOP</a:t>
            </a:r>
            <a:r>
              <a:rPr lang="en-US" sz="2000" dirty="0" smtClean="0"/>
              <a:t>:</a:t>
            </a:r>
          </a:p>
          <a:p>
            <a:endParaRPr lang="en-US" sz="2000" dirty="0"/>
          </a:p>
          <a:p>
            <a:r>
              <a:rPr lang="en-US" sz="2000" dirty="0"/>
              <a:t>S – Single Responsibility </a:t>
            </a:r>
            <a:r>
              <a:rPr lang="en-US" sz="2000" dirty="0" smtClean="0"/>
              <a:t>Principle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O – Open/Closed </a:t>
            </a:r>
            <a:r>
              <a:rPr lang="en-US" sz="2000" dirty="0" smtClean="0"/>
              <a:t>Principle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L – Liskov Substitution </a:t>
            </a:r>
            <a:r>
              <a:rPr lang="en-US" sz="2000" dirty="0" smtClean="0"/>
              <a:t>Principle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I – Interface Segregation </a:t>
            </a:r>
            <a:r>
              <a:rPr lang="en-US" sz="2000" dirty="0" smtClean="0"/>
              <a:t>Principle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D – Dependency Inversion Principle</a:t>
            </a:r>
          </a:p>
        </p:txBody>
      </p:sp>
    </p:spTree>
    <p:extLst>
      <p:ext uri="{BB962C8B-B14F-4D97-AF65-F5344CB8AC3E}">
        <p14:creationId xmlns:p14="http://schemas.microsoft.com/office/powerpoint/2010/main" val="311362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56603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C000"/>
                </a:solidFill>
              </a:rPr>
              <a:t>Single Responsibility Principle</a:t>
            </a:r>
          </a:p>
          <a:p>
            <a:pPr algn="ctr"/>
            <a:endParaRPr lang="en-US" sz="2000" b="1" dirty="0" smtClean="0">
              <a:solidFill>
                <a:srgbClr val="FFC000"/>
              </a:solidFill>
            </a:endParaRPr>
          </a:p>
          <a:p>
            <a:r>
              <a:rPr lang="en-GB" sz="2000" dirty="0"/>
              <a:t>This implies that a class should have just one duty, as stated by its methods. If a class handles more than one duty, then you should break those duties into different classes</a:t>
            </a:r>
            <a:r>
              <a:rPr lang="en-GB" sz="2000" dirty="0" smtClean="0"/>
              <a:t>.</a:t>
            </a:r>
          </a:p>
          <a:p>
            <a:endParaRPr lang="en-US" sz="2000" b="1" dirty="0" smtClean="0">
              <a:solidFill>
                <a:srgbClr val="FFC000"/>
              </a:solidFill>
            </a:endParaRPr>
          </a:p>
          <a:p>
            <a:r>
              <a:rPr lang="en-US" b="1" dirty="0" smtClean="0"/>
              <a:t>Example: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Book Manager </a:t>
            </a:r>
            <a:r>
              <a:rPr lang="en-US" dirty="0"/>
              <a:t>handles only book data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Report Generator </a:t>
            </a:r>
            <a:r>
              <a:rPr lang="en-US" dirty="0"/>
              <a:t>handles only reporting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7231" y="2551837"/>
            <a:ext cx="944880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b="1" dirty="0" smtClean="0">
              <a:solidFill>
                <a:srgbClr val="FFC000"/>
              </a:solidFill>
            </a:endParaRPr>
          </a:p>
          <a:p>
            <a:pPr algn="ctr"/>
            <a:endParaRPr lang="en-US" sz="2000" b="1" dirty="0" smtClean="0">
              <a:solidFill>
                <a:srgbClr val="FFC000"/>
              </a:solidFill>
            </a:endParaRPr>
          </a:p>
          <a:p>
            <a:pPr algn="ctr"/>
            <a:endParaRPr lang="en-US" sz="2000" b="1" dirty="0">
              <a:solidFill>
                <a:srgbClr val="FFC00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FFC000"/>
                </a:solidFill>
              </a:rPr>
              <a:t>Open/Closed </a:t>
            </a:r>
            <a:r>
              <a:rPr lang="en-US" sz="2400" b="1" dirty="0">
                <a:solidFill>
                  <a:srgbClr val="FFC000"/>
                </a:solidFill>
              </a:rPr>
              <a:t>Principle</a:t>
            </a:r>
          </a:p>
          <a:p>
            <a:r>
              <a:rPr lang="en-GB" sz="2000" dirty="0"/>
              <a:t>This implies Software object classes should be available for extension, but closed for alteration. It is okay to expand an existing class via sub-classing (Inheritance) and method overriding provided it does not affect existing code. </a:t>
            </a:r>
            <a:r>
              <a:rPr lang="en-US" sz="2000" dirty="0" smtClean="0"/>
              <a:t>Software </a:t>
            </a:r>
            <a:r>
              <a:rPr lang="en-US" sz="2000" dirty="0"/>
              <a:t>entities should be open for extension, closed for modification</a:t>
            </a:r>
            <a:r>
              <a:rPr lang="en-US" sz="20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Example</a:t>
            </a:r>
            <a:r>
              <a:rPr lang="en-US" sz="2000" b="1" dirty="0" smtClean="0"/>
              <a:t>: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Adding new book formats in Dream Book Shop without changing core logic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5915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7231" y="0"/>
            <a:ext cx="8872946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rgbClr val="FFC000"/>
                </a:solidFill>
              </a:rPr>
              <a:t>L - Liskov Substitution Principle </a:t>
            </a:r>
          </a:p>
          <a:p>
            <a:pPr algn="ctr"/>
            <a:endParaRPr lang="en-US" sz="2400" dirty="0" smtClean="0">
              <a:solidFill>
                <a:srgbClr val="FFC000"/>
              </a:solidFill>
            </a:endParaRPr>
          </a:p>
          <a:p>
            <a:r>
              <a:rPr lang="en-GB" sz="2000" dirty="0"/>
              <a:t>Invented by Barbara </a:t>
            </a:r>
            <a:r>
              <a:rPr lang="en-GB" sz="2000" dirty="0" smtClean="0"/>
              <a:t>Liskov </a:t>
            </a:r>
            <a:r>
              <a:rPr lang="en-GB" sz="2000" dirty="0"/>
              <a:t>in 1988, this principle says that where a </a:t>
            </a:r>
            <a:r>
              <a:rPr lang="en-GB" sz="2000" b="1" dirty="0"/>
              <a:t>method expects a super class object as a parameter it can be substituted by a sub-class object.</a:t>
            </a:r>
            <a:r>
              <a:rPr lang="en-GB" sz="2000" dirty="0"/>
              <a:t> This means the same user code can work with different sub-class objects and produce sub-class </a:t>
            </a:r>
            <a:r>
              <a:rPr lang="en-GB" sz="2000" dirty="0" smtClean="0"/>
              <a:t>specific </a:t>
            </a:r>
            <a:r>
              <a:rPr lang="en-GB" sz="2000" dirty="0"/>
              <a:t>behavior at different </a:t>
            </a:r>
            <a:r>
              <a:rPr lang="en-GB" sz="2000" dirty="0" smtClean="0"/>
              <a:t>occasions. </a:t>
            </a:r>
            <a:r>
              <a:rPr lang="en-GB" sz="2000" dirty="0"/>
              <a:t>In other words, the user code behavior is </a:t>
            </a:r>
            <a:r>
              <a:rPr lang="en-GB" sz="2000" b="1" dirty="0"/>
              <a:t>Polymorphic</a:t>
            </a:r>
            <a:r>
              <a:rPr lang="en-GB" sz="2000" dirty="0"/>
              <a:t>. </a:t>
            </a:r>
            <a:r>
              <a:rPr lang="en-US" sz="2000" dirty="0" smtClean="0"/>
              <a:t>Subtypes must be substitutable </a:t>
            </a:r>
            <a:r>
              <a:rPr lang="en-US" sz="2000" dirty="0"/>
              <a:t>for their base </a:t>
            </a:r>
            <a:r>
              <a:rPr lang="en-US" sz="2000" dirty="0" smtClean="0"/>
              <a:t>types.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Example: A Premium User </a:t>
            </a:r>
            <a:r>
              <a:rPr lang="en-US" dirty="0"/>
              <a:t>can replace User in AQDS without breaking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230" y="2989385"/>
            <a:ext cx="8872946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400" b="1" dirty="0" smtClean="0">
              <a:solidFill>
                <a:srgbClr val="FFC000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FFC000"/>
                </a:solidFill>
              </a:rPr>
              <a:t>I </a:t>
            </a:r>
            <a:r>
              <a:rPr lang="en-US" sz="2400" b="1" dirty="0">
                <a:solidFill>
                  <a:srgbClr val="FFC000"/>
                </a:solidFill>
              </a:rPr>
              <a:t>- Interface Segregation </a:t>
            </a:r>
            <a:r>
              <a:rPr lang="en-US" sz="2400" b="1" dirty="0" smtClean="0">
                <a:solidFill>
                  <a:srgbClr val="FFC000"/>
                </a:solidFill>
              </a:rPr>
              <a:t>Principle</a:t>
            </a:r>
          </a:p>
          <a:p>
            <a:pPr algn="ctr"/>
            <a:endParaRPr lang="en-US" sz="2400" b="1" dirty="0">
              <a:solidFill>
                <a:srgbClr val="FFC000"/>
              </a:solidFill>
            </a:endParaRPr>
          </a:p>
          <a:p>
            <a:r>
              <a:rPr lang="en-US" sz="2000" dirty="0"/>
              <a:t>Clients shouldn't be forced to depend on unused interfaces</a:t>
            </a:r>
            <a:r>
              <a:rPr lang="en-US" sz="2000" dirty="0" smtClean="0"/>
              <a:t>.</a:t>
            </a:r>
            <a:r>
              <a:rPr lang="en-GB" sz="2000" dirty="0"/>
              <a:t> An Interface is a specific form of a super class that includes just abstract methods (i.e. empty methods). The Interface Segregation Principle asserts that an Interface shall not require sub classes to implement its abstract methods</a:t>
            </a:r>
            <a:r>
              <a:rPr lang="en-GB" sz="2000" dirty="0" smtClean="0"/>
              <a:t>.</a:t>
            </a:r>
          </a:p>
          <a:p>
            <a:endParaRPr lang="en-US" sz="2000" dirty="0"/>
          </a:p>
          <a:p>
            <a:r>
              <a:rPr lang="en-US" b="1" dirty="0"/>
              <a:t>Example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Separate interfaces: </a:t>
            </a:r>
            <a:r>
              <a:rPr lang="en-US" dirty="0" err="1"/>
              <a:t>IReader</a:t>
            </a:r>
            <a:r>
              <a:rPr lang="en-US" dirty="0"/>
              <a:t>, </a:t>
            </a:r>
            <a:r>
              <a:rPr lang="en-US" dirty="0" err="1"/>
              <a:t>IAuthor</a:t>
            </a:r>
            <a:r>
              <a:rPr lang="en-US" dirty="0"/>
              <a:t>, </a:t>
            </a:r>
            <a:r>
              <a:rPr lang="en-US" dirty="0" err="1"/>
              <a:t>IAdmin</a:t>
            </a:r>
            <a:r>
              <a:rPr lang="en-US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535" y="760951"/>
            <a:ext cx="3877392" cy="31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4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9957"/>
            <a:ext cx="976532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Dependency Inversion Principle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 modules shouldn't depend on low-level modules. Both should depend on abstractions.</a:t>
            </a:r>
            <a:r>
              <a:rPr lang="en-US" sz="2000" dirty="0"/>
              <a:t> This principle says that </a:t>
            </a:r>
            <a:r>
              <a:rPr lang="en-US" sz="2000" b="1" dirty="0"/>
              <a:t>classes that provide details</a:t>
            </a:r>
            <a:r>
              <a:rPr lang="en-US" sz="2000" dirty="0"/>
              <a:t> must </a:t>
            </a:r>
            <a:r>
              <a:rPr lang="en-US" sz="2000" b="1" dirty="0"/>
              <a:t>depend on abstractions</a:t>
            </a:r>
            <a:r>
              <a:rPr lang="en-US" sz="2000" dirty="0"/>
              <a:t> and not the other way around.  This implies that our design must start with </a:t>
            </a:r>
            <a:r>
              <a:rPr lang="en-US" sz="2000" b="1" dirty="0"/>
              <a:t>Interface classes</a:t>
            </a:r>
            <a:r>
              <a:rPr lang="en-US" sz="2000" dirty="0"/>
              <a:t> or </a:t>
            </a:r>
            <a:r>
              <a:rPr lang="en-US" sz="2000" b="1" dirty="0"/>
              <a:t>Abstract classes</a:t>
            </a:r>
            <a:r>
              <a:rPr lang="en-US" sz="2000" dirty="0"/>
              <a:t>. </a:t>
            </a:r>
            <a:endParaRPr lang="en-US" sz="200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 smtClean="0"/>
              <a:t>FDAccount </a:t>
            </a:r>
            <a:r>
              <a:rPr lang="en-US" sz="2000" dirty="0"/>
              <a:t>depends on the abstraction “Account” and its abstract method </a:t>
            </a:r>
            <a:r>
              <a:rPr lang="en-US" sz="2000" dirty="0" smtClean="0"/>
              <a:t>calculate Interest().</a:t>
            </a:r>
            <a:endParaRPr 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151" y="454522"/>
            <a:ext cx="2054530" cy="332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000" b="1" dirty="0">
              <a:solidFill>
                <a:prstClr val="black"/>
              </a:solidFill>
            </a:endParaRPr>
          </a:p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Clean Coding &amp; Data </a:t>
            </a:r>
            <a:r>
              <a:rPr lang="en-US" sz="2400" b="1" dirty="0" smtClean="0">
                <a:solidFill>
                  <a:srgbClr val="FF0000"/>
                </a:solidFill>
              </a:rPr>
              <a:t>Structures</a:t>
            </a:r>
          </a:p>
          <a:p>
            <a:r>
              <a:rPr lang="en-US" sz="2000" b="1" dirty="0" smtClean="0"/>
              <a:t> Meaningful Names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/>
              <a:t>Use </a:t>
            </a:r>
            <a:r>
              <a:rPr lang="en-US" sz="2000" dirty="0"/>
              <a:t>descriptive names for variables, functions, and classes to make code more understandable and intuitive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r>
              <a:rPr lang="en-US" sz="2000" b="1" dirty="0" smtClean="0"/>
              <a:t>Modular </a:t>
            </a:r>
            <a:r>
              <a:rPr lang="en-US" sz="2000" b="1" dirty="0"/>
              <a:t>Design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Break code into smaller functions or classes; improves maintainability, reusability, and team collaboration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r>
              <a:rPr lang="en-US" sz="2000" b="1" dirty="0" smtClean="0"/>
              <a:t>Consistent </a:t>
            </a:r>
            <a:r>
              <a:rPr lang="en-US" sz="2000" b="1" dirty="0"/>
              <a:t>Formatting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Follow standard indentation, spacing, and naming styles to ensure readability across teams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r>
              <a:rPr lang="en-US" sz="2000" b="1" dirty="0" smtClean="0"/>
              <a:t>Avoid </a:t>
            </a:r>
            <a:r>
              <a:rPr lang="en-US" sz="2000" b="1" dirty="0"/>
              <a:t>Code Duplication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Extract repeating logic into reusable functions or classes to reduce redundancy and </a:t>
            </a:r>
            <a:r>
              <a:rPr lang="en-US" sz="2000" dirty="0" smtClean="0"/>
              <a:t>bugs.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 smtClean="0"/>
          </a:p>
          <a:p>
            <a:r>
              <a:rPr lang="en-US" sz="2000" b="1" dirty="0" smtClean="0"/>
              <a:t>Proper </a:t>
            </a:r>
            <a:r>
              <a:rPr lang="en-US" sz="2000" b="1" dirty="0"/>
              <a:t>Comments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Use comments to explain "why", not "what", especially when logic is complex or non-obvious</a:t>
            </a:r>
            <a:r>
              <a:rPr lang="en-US" sz="20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r>
              <a:rPr lang="en-US" sz="2000" b="1" dirty="0" smtClean="0"/>
              <a:t>Error </a:t>
            </a:r>
            <a:r>
              <a:rPr lang="en-US" sz="2000" b="1" dirty="0"/>
              <a:t>Handling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Write clear and consistent exception handling to prevent crashes and improve reliability in data operations.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105" y="5635262"/>
            <a:ext cx="4407790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7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46893" y="0"/>
            <a:ext cx="1229750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Impact on Data Structures and </a:t>
            </a:r>
            <a:r>
              <a:rPr lang="en-US" sz="2400" dirty="0" smtClean="0">
                <a:solidFill>
                  <a:srgbClr val="FF0000"/>
                </a:solidFill>
              </a:rPr>
              <a:t>Algorithms</a:t>
            </a:r>
          </a:p>
          <a:p>
            <a:pPr algn="ctr"/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b="1" dirty="0"/>
              <a:t>Cleaner Logic for Loops and </a:t>
            </a:r>
            <a:r>
              <a:rPr lang="en-US" sz="2400" b="1" dirty="0" smtClean="0"/>
              <a:t>Conditions</a:t>
            </a:r>
            <a:endParaRPr lang="en-US" sz="2400" b="1" dirty="0"/>
          </a:p>
          <a:p>
            <a:r>
              <a:rPr lang="en-US" sz="2400" dirty="0"/>
              <a:t>Using clean code ensures loops and conditions are straightforward, readable, and free from unnecessary logic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 smtClean="0"/>
              <a:t>Better </a:t>
            </a:r>
            <a:r>
              <a:rPr lang="en-US" sz="2400" b="1" dirty="0"/>
              <a:t>Performance Tracking</a:t>
            </a:r>
          </a:p>
          <a:p>
            <a:r>
              <a:rPr lang="en-US" sz="2400" dirty="0"/>
              <a:t>Structured, clean code makes it easier to measure and improve algorithm performance and resource usage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dirty="0" smtClean="0"/>
              <a:t>Reduces </a:t>
            </a:r>
            <a:r>
              <a:rPr lang="en-US" sz="2400" b="1" dirty="0"/>
              <a:t>Complexity</a:t>
            </a:r>
          </a:p>
          <a:p>
            <a:r>
              <a:rPr lang="en-US" sz="2400" dirty="0"/>
              <a:t>By organizing logic and data clearly, clean code minimizes confusion in large, complex data processes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 smtClean="0"/>
              <a:t>Easier </a:t>
            </a:r>
            <a:r>
              <a:rPr lang="en-US" sz="2400" b="1" dirty="0"/>
              <a:t>Testing and Debugging</a:t>
            </a:r>
          </a:p>
          <a:p>
            <a:r>
              <a:rPr lang="en-US" sz="2400" dirty="0"/>
              <a:t>Well-written code enables efficient testing of individual functions and quicker resolution of data-related bugs.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70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2000" cy="749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Creational Design </a:t>
            </a:r>
            <a:r>
              <a:rPr lang="en-US" sz="2400" b="1" dirty="0" smtClean="0">
                <a:solidFill>
                  <a:srgbClr val="FF0000"/>
                </a:solidFill>
              </a:rPr>
              <a:t>Patterns</a:t>
            </a:r>
          </a:p>
          <a:p>
            <a:r>
              <a:rPr lang="en-US" sz="2400" dirty="0"/>
              <a:t>In </a:t>
            </a:r>
            <a:r>
              <a:rPr lang="en-US" sz="2400" dirty="0">
                <a:hlinkClick r:id="rId2" tooltip="Software engineering"/>
              </a:rPr>
              <a:t>software engineering</a:t>
            </a:r>
            <a:r>
              <a:rPr lang="en-US" sz="2400" dirty="0"/>
              <a:t>, creational design patterns are </a:t>
            </a:r>
            <a:r>
              <a:rPr lang="en-US" sz="2400" dirty="0">
                <a:hlinkClick r:id="rId3" tooltip="Design pattern (computer science)"/>
              </a:rPr>
              <a:t>design patterns</a:t>
            </a:r>
            <a:r>
              <a:rPr lang="en-US" sz="2400" dirty="0"/>
              <a:t> that deal with </a:t>
            </a:r>
            <a:r>
              <a:rPr lang="en-US" sz="2400" dirty="0">
                <a:hlinkClick r:id="rId4" tooltip="Object lifetime"/>
              </a:rPr>
              <a:t>object creation</a:t>
            </a:r>
            <a:r>
              <a:rPr lang="en-US" sz="2400" dirty="0"/>
              <a:t>s. They try to create objects in a manner suitable to the problem situation. Creational design patterns control object creations. They encapsulate knowledge about what objects they </a:t>
            </a:r>
            <a:r>
              <a:rPr lang="en-US" sz="2400" dirty="0" smtClean="0"/>
              <a:t>create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b="1" dirty="0" smtClean="0"/>
              <a:t>Example Patterns:</a:t>
            </a:r>
          </a:p>
          <a:p>
            <a:pPr marL="342900" marR="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Abstract Factory Method Design </a:t>
            </a:r>
            <a:r>
              <a:rPr lang="en-GB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Patterns</a:t>
            </a:r>
          </a:p>
          <a:p>
            <a:pPr marL="342900" marR="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endParaRPr lang="en-GB" b="1" dirty="0" smtClean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endParaRPr lang="en-GB" b="1" dirty="0" smtClean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r>
              <a:rPr lang="en-GB" b="1" dirty="0"/>
              <a:t>Singleton Method Design </a:t>
            </a:r>
            <a:r>
              <a:rPr lang="en-GB" b="1" dirty="0" smtClean="0"/>
              <a:t>Pattern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endParaRPr lang="en-GB" b="1" dirty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endParaRPr lang="en-GB" b="1" dirty="0" smtClean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romanL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291" y="1638781"/>
            <a:ext cx="5395428" cy="24081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1427" y="4046909"/>
            <a:ext cx="3609145" cy="28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9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Structural Design </a:t>
            </a:r>
            <a:r>
              <a:rPr lang="en-US" sz="2400" b="1" dirty="0" smtClean="0">
                <a:solidFill>
                  <a:srgbClr val="FF0000"/>
                </a:solidFill>
              </a:rPr>
              <a:t>Patterns</a:t>
            </a:r>
          </a:p>
          <a:p>
            <a:pPr lvl="0"/>
            <a:r>
              <a:rPr lang="en-GB" sz="2400" dirty="0"/>
              <a:t>Structural patterns form </a:t>
            </a:r>
            <a:r>
              <a:rPr lang="en-GB" sz="2400" b="1" dirty="0"/>
              <a:t>larger structures from individual components, generally of different classes</a:t>
            </a:r>
            <a:r>
              <a:rPr lang="en-GB" sz="2400" dirty="0"/>
              <a:t>. Structural patterns vary a great deal depending on what sort of structure is being created for what purpose. </a:t>
            </a:r>
            <a:endParaRPr lang="en-GB" sz="2400" dirty="0" smtClean="0"/>
          </a:p>
          <a:p>
            <a:pPr lvl="0"/>
            <a:endParaRPr lang="en-US" sz="2400" b="1" dirty="0">
              <a:solidFill>
                <a:srgbClr val="FF0000"/>
              </a:solidFill>
            </a:endParaRPr>
          </a:p>
          <a:p>
            <a:pPr lvl="0"/>
            <a:r>
              <a:rPr lang="en-US" b="1" dirty="0" smtClean="0">
                <a:solidFill>
                  <a:prstClr val="black"/>
                </a:solidFill>
              </a:rPr>
              <a:t>Example </a:t>
            </a:r>
            <a:r>
              <a:rPr lang="en-US" b="1" dirty="0">
                <a:solidFill>
                  <a:prstClr val="black"/>
                </a:solidFill>
              </a:rPr>
              <a:t>Patterns:</a:t>
            </a:r>
            <a:endParaRPr lang="en-US" dirty="0">
              <a:solidFill>
                <a:prstClr val="black"/>
              </a:solidFill>
            </a:endParaRPr>
          </a:p>
          <a:p>
            <a:pPr marL="400050" lvl="0" indent="-400050">
              <a:buFont typeface="+mj-lt"/>
              <a:buAutoNum type="romanUcPeriod"/>
            </a:pPr>
            <a:r>
              <a:rPr lang="en-US" dirty="0">
                <a:solidFill>
                  <a:prstClr val="black"/>
                </a:solidFill>
              </a:rPr>
              <a:t>Adapter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US" dirty="0">
                <a:solidFill>
                  <a:prstClr val="black"/>
                </a:solidFill>
              </a:rPr>
              <a:t>Composite</a:t>
            </a:r>
          </a:p>
          <a:p>
            <a:pPr lvl="0"/>
            <a:r>
              <a:rPr lang="en-US" b="1" dirty="0">
                <a:solidFill>
                  <a:prstClr val="black"/>
                </a:solidFill>
              </a:rPr>
              <a:t>Example:</a:t>
            </a:r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Adapter used to connect an old payment API with a new booking system</a:t>
            </a:r>
            <a:r>
              <a:rPr lang="en-US" dirty="0" smtClean="0">
                <a:solidFill>
                  <a:prstClr val="black"/>
                </a:solidFill>
              </a:rPr>
              <a:t>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pPr lvl="0" algn="ctr"/>
            <a:r>
              <a:rPr lang="en-US" sz="2400" b="1" dirty="0">
                <a:solidFill>
                  <a:srgbClr val="FF0000"/>
                </a:solidFill>
              </a:rPr>
              <a:t>Behavioral Design </a:t>
            </a:r>
            <a:r>
              <a:rPr lang="en-US" sz="2400" b="1" dirty="0" smtClean="0">
                <a:solidFill>
                  <a:srgbClr val="FF0000"/>
                </a:solidFill>
              </a:rPr>
              <a:t>Patterns</a:t>
            </a:r>
          </a:p>
          <a:p>
            <a:pPr lvl="0"/>
            <a:r>
              <a:rPr lang="en-GB" sz="2400" dirty="0"/>
              <a:t>Behavioural patterns describe </a:t>
            </a:r>
            <a:r>
              <a:rPr lang="en-GB" sz="2400" b="1" dirty="0"/>
              <a:t>interactions between objects</a:t>
            </a:r>
            <a:r>
              <a:rPr lang="en-GB" sz="2400" dirty="0"/>
              <a:t>. They focus on how objects communicate with each other.  Behavioural patterns are concerned with assignment of responsibilities between objects</a:t>
            </a:r>
            <a:r>
              <a:rPr lang="en-GB" sz="2400" dirty="0" smtClean="0"/>
              <a:t>.</a:t>
            </a:r>
          </a:p>
          <a:p>
            <a:pPr lvl="0"/>
            <a:endParaRPr lang="en-US" sz="2400" b="1" dirty="0">
              <a:solidFill>
                <a:srgbClr val="FF0000"/>
              </a:solidFill>
            </a:endParaRPr>
          </a:p>
          <a:p>
            <a:pPr lvl="0"/>
            <a:r>
              <a:rPr lang="en-US" b="1" dirty="0" smtClean="0">
                <a:solidFill>
                  <a:prstClr val="black"/>
                </a:solidFill>
              </a:rPr>
              <a:t>Example </a:t>
            </a:r>
            <a:r>
              <a:rPr lang="en-US" b="1" dirty="0">
                <a:solidFill>
                  <a:prstClr val="black"/>
                </a:solidFill>
              </a:rPr>
              <a:t>Patterns:</a:t>
            </a:r>
            <a:endParaRPr lang="en-US" dirty="0">
              <a:solidFill>
                <a:prstClr val="black"/>
              </a:solidFill>
            </a:endParaRPr>
          </a:p>
          <a:p>
            <a:pPr marL="400050" lvl="0" indent="-400050">
              <a:buFont typeface="+mj-lt"/>
              <a:buAutoNum type="romanUcPeriod"/>
            </a:pPr>
            <a:r>
              <a:rPr lang="en-US" dirty="0">
                <a:solidFill>
                  <a:prstClr val="black"/>
                </a:solidFill>
              </a:rPr>
              <a:t>Observer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US" dirty="0">
                <a:solidFill>
                  <a:prstClr val="black"/>
                </a:solidFill>
              </a:rPr>
              <a:t>Strategy</a:t>
            </a:r>
          </a:p>
          <a:p>
            <a:pPr lvl="0"/>
            <a:r>
              <a:rPr lang="en-US" b="1" dirty="0">
                <a:solidFill>
                  <a:prstClr val="black"/>
                </a:solidFill>
              </a:rPr>
              <a:t>Example:</a:t>
            </a:r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Strategy used to choose different discount strategies in checkout.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708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062" y="0"/>
            <a:ext cx="798177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Impact of SOLID on </a:t>
            </a:r>
            <a:r>
              <a:rPr lang="en-US" sz="2400" b="1" dirty="0" smtClean="0">
                <a:solidFill>
                  <a:srgbClr val="FF0000"/>
                </a:solidFill>
              </a:rPr>
              <a:t>OOP</a:t>
            </a:r>
          </a:p>
          <a:p>
            <a:pPr algn="ctr"/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Easier </a:t>
            </a:r>
            <a:r>
              <a:rPr lang="en-US" sz="2000" dirty="0" smtClean="0"/>
              <a:t>maintenance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Scalable </a:t>
            </a:r>
            <a:r>
              <a:rPr lang="en-US" sz="2000" dirty="0" smtClean="0"/>
              <a:t>architecture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Improved testing and </a:t>
            </a:r>
            <a:r>
              <a:rPr lang="en-US" sz="2000" dirty="0" smtClean="0"/>
              <a:t>debugging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Better team </a:t>
            </a:r>
            <a:r>
              <a:rPr lang="en-US" sz="2000" dirty="0" smtClean="0"/>
              <a:t>collaboration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</a:rPr>
              <a:t>Better scalability and </a:t>
            </a:r>
            <a:r>
              <a:rPr lang="en-US" sz="2000" dirty="0" smtClean="0">
                <a:latin typeface="Arial" panose="020B0604020202020204" pitchFamily="34" charset="0"/>
              </a:rPr>
              <a:t>testability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US" sz="2000" dirty="0" smtClean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</a:rPr>
              <a:t>Reduces bugs and maintenance </a:t>
            </a: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</a:rPr>
              <a:t>costs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</a:rPr>
              <a:t>Encourages team </a:t>
            </a:r>
            <a:r>
              <a:rPr lang="en-US" sz="2000" dirty="0" smtClean="0">
                <a:latin typeface="Arial" panose="020B0604020202020204" pitchFamily="34" charset="0"/>
              </a:rPr>
              <a:t>collaboration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</a:rPr>
              <a:t>Enables faster feature updates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595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785"/>
            <a:ext cx="80501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Conclusion</a:t>
            </a:r>
          </a:p>
          <a:p>
            <a:pPr algn="ctr"/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000" b="1" dirty="0" smtClean="0"/>
              <a:t>OOP </a:t>
            </a:r>
            <a:r>
              <a:rPr lang="en-US" sz="2000" b="1" dirty="0"/>
              <a:t>Enables Modular, Reusable Code</a:t>
            </a:r>
          </a:p>
          <a:p>
            <a:r>
              <a:rPr lang="en-US" sz="2000" dirty="0"/>
              <a:t>Object-Oriented Programming promotes structured, reusable components, reducing duplication and improving collaboration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SOLID </a:t>
            </a:r>
            <a:r>
              <a:rPr lang="en-US" sz="2000" b="1" dirty="0"/>
              <a:t>Enhances Structure and Adaptability</a:t>
            </a:r>
          </a:p>
          <a:p>
            <a:r>
              <a:rPr lang="en-US" sz="2000" dirty="0"/>
              <a:t>SOLID principles ensure flexible, scalable, and maintainable systems that adapt easily to new requirements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Design </a:t>
            </a:r>
            <a:r>
              <a:rPr lang="en-US" sz="2000" b="1" dirty="0"/>
              <a:t>Patterns Simplify Recurring Challenges</a:t>
            </a:r>
          </a:p>
          <a:p>
            <a:r>
              <a:rPr lang="en-US" sz="2000" dirty="0"/>
              <a:t>Design patterns provide tested solutions to common problems, improving development speed and consistency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OOP </a:t>
            </a:r>
            <a:r>
              <a:rPr lang="en-US" sz="2000" b="1" dirty="0"/>
              <a:t>and SOLID Create a Strong Foundation</a:t>
            </a:r>
          </a:p>
          <a:p>
            <a:r>
              <a:rPr lang="en-US" sz="2000" dirty="0"/>
              <a:t>Combining OOP and SOLID leads to robust, organized software architecture with long-term maintainability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Clean </a:t>
            </a:r>
            <a:r>
              <a:rPr lang="en-US" sz="2000" b="1" dirty="0"/>
              <a:t>Code Enhances Data Handling</a:t>
            </a:r>
          </a:p>
          <a:p>
            <a:r>
              <a:rPr lang="en-US" sz="2000" dirty="0"/>
              <a:t>Readable, organized code supports better data flow, manipulation, and algorithm performance across </a:t>
            </a:r>
            <a:r>
              <a:rPr lang="en-US" sz="2000" dirty="0" smtClean="0"/>
              <a:t>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46920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9231" y="1741780"/>
            <a:ext cx="9859107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0" b="1" dirty="0" smtClean="0">
                <a:solidFill>
                  <a:srgbClr val="FF0000"/>
                </a:solidFill>
              </a:rPr>
              <a:t>THANK YOU</a:t>
            </a:r>
            <a:endParaRPr lang="en-US" sz="1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5572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118</TotalTime>
  <Words>1248</Words>
  <Application>Microsoft Office PowerPoint</Application>
  <PresentationFormat>Widescreen</PresentationFormat>
  <Paragraphs>206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 Unicode MS</vt:lpstr>
      <vt:lpstr>SimSun</vt:lpstr>
      <vt:lpstr>Arial</vt:lpstr>
      <vt:lpstr>Times New Roman</vt:lpstr>
      <vt:lpstr>Trebuchet MS</vt:lpstr>
      <vt:lpstr>Wingdings</vt:lpstr>
      <vt:lpstr>Wingdings 3</vt:lpstr>
      <vt:lpstr>Facet</vt:lpstr>
      <vt:lpstr>Investigating the Impact of SOLID Principles on OOP Development at AQDS &amp; Dream Book 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the Impact of SOLID Principles on OOP Development at AQDS &amp; Dream Book Shop</dc:title>
  <dc:creator>user</dc:creator>
  <cp:lastModifiedBy>user</cp:lastModifiedBy>
  <cp:revision>13</cp:revision>
  <dcterms:created xsi:type="dcterms:W3CDTF">2025-07-28T13:45:34Z</dcterms:created>
  <dcterms:modified xsi:type="dcterms:W3CDTF">2025-07-28T15:44:00Z</dcterms:modified>
</cp:coreProperties>
</file>